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embeddedFontLst>
    <p:embeddedFont>
      <p:font typeface="JetBrains Mono" panose="02000009000000000000" pitchFamily="49"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Lookahead is our Compiler Design Lab project. It takes any context-free grammar and builds SLR(1), canonical LR(1) and LALR(1) parsers from scratch, then shows every step that got there. The panel on the right is state I0 of the textbook expression grammar, exactly as the tool computes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meet SLR, CLR and LALR as long hand calculations. The work is error-prone, the final table hides its reasoning, and the three methods are rarely seen side by side. Lookahead is built to fix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sidebar follows the order the topic is taught in. Each step page opens with a short concept note and links to the previous and next step. Every value on screen is computed live, so changing one production updates all five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Alongside the five steps there are pages for comparing the three parsers on one input, diagnosing conflicts, and replaying each algorithm. There is also a command palette on Ctrl+K, keyboard shortcuts, a first-run tour and recent projects saved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editor accepts the notation students already write. Symbols are separated by whitespace, quotes force a terminal, and %start or %token can be declared. The grammar is augmented with a fresh start rule as production 0, and those numbers are shared by all three tables, the simulator and every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methods share the same shift and goto entries; they differ only in where a completed item reduces. SLR uses FOLLOW of the left side, CLR uses the exact lookaheads carried by each LR(1) item, and LALR merges CLR states that share a core and unions their lookaheads. For S → C C that is 10 CLR states merged into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design choice in the engine. CLR states are partitioned by their LR(0) core; each partition becomes one LALR state whose lookaheads are the union, and transitions are inherited. Because LALR is genuinely derived from CLR, the tool can later tell whether a conflict was introduced by the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insertion into a table cell is kept, so a cell with two actions is the conflict. For each LALR conflict the analyzer checks whether any of the CLR states that were merged already had it; if none did, merging introduced it. The second grammar is the textbook case: LR(1), but not LALR(1).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trace uses the textbook SLR table for the expression grammar, so state numbers match the Dragon book. Play, pause, step and reset drive it. Read the reductions from the bottom up and you get the rightmost derivation shown on the right, which the tool recovers from the parse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knows nothing about the UI, which is why it can be tested directly against textbook results. The studio keeps only what the user typed; sets, automata, tables and traces are always recomputed, so saved state can never drift out of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suite also covers: grammar tokenization, validation and error lines; FIRST/FOLLOW for Dragon Example 4.30, left recursion and nullable chains; LR(1) closure with propagated lookaheads; ambiguous grammars and dangling-else detection; the simulation trace of Dragon Fig. 4.38 and its rightmost derivation; empty input, invalid tokens, conflict policies and the step limit; every sample grammar’s claims; share-link decoding and every export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demo in the light theme with the Projector text size. Steps 1 to 5 walk the learning path on one grammar; step 6 switches to a grammar where SLR fails but LR(1) and LALR succeed, which shows the compare page and the conflicts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described in this deck is implemented and tested. The three items on the right are not built yet. Today, input tokens must be the grammar’s own terminals, and conflicts are either reported or resolved by preferring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the panel to give a small grammar and run it through all five steps live. Good backup grammars: the dangling-else grammar, which shows a shift/reduce conflict, and S → S S | a, which is ambiguous.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8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F2328"/>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latin typeface="IBM Plex Sans" charset="0"/>
              <a:ea typeface="IBM Plex Sans" charset="0"/>
              <a:cs typeface="IBM Plex Sans" charset="0"/>
            </a:endParaRPr>
          </a:p>
        </p:txBody>
      </p:sp>
      <p:sp>
        <p:nvSpPr>
          <p:cNvPr id="3" name="Text Placeholder 2"/>
          <p:cNvSpPr/>
          <p:nvPr>
            <p:ph idx="101" type="body"/>
          </p:nvPr>
        </p:nvSpPr>
        <p:spPr>
          <a:xfrm>
            <a:off x="812800" y="1960881"/>
            <a:ext cx="10566400" cy="4084319"/>
          </a:xfrm>
          <a:prstGeom prst="rect">
            <a:avLst/>
          </a:prstGeom>
          <a:noFill/>
          <a:ln/>
        </p:spPr>
        <p:txBody>
          <a:bodyPr wrap="square" lIns="0" tIns="0" rIns="0" bIns="0" rtlCol="0" anchor="t"/>
          <a:lstStyle>
            <a:lvl1pPr algn="l" indent="0" marL="0">
              <a:lnSpc>
                <a:spcPct val="140000"/>
              </a:lnSpc>
              <a:buNone/>
              <a:defRPr lang="en-US" sz="1600" dirty="0">
                <a:solidFill>
                  <a:srgbClr val="1F2328"/>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latin typeface="IBM Plex Sans" charset="0"/>
              <a:ea typeface="IBM Plex Sans" charset="0"/>
              <a:cs typeface="IBM Plex Sans"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8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F2328"/>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latin typeface="IBM Plex Sans" charset="0"/>
              <a:ea typeface="IBM Plex Sans" charset="0"/>
              <a:cs typeface="IBM Plex Sans" charset="0"/>
            </a:endParaRPr>
          </a:p>
        </p:txBody>
      </p:sp>
      <p:sp>
        <p:nvSpPr>
          <p:cNvPr id="3" name="Text Placeholder 2"/>
          <p:cNvSpPr/>
          <p:nvPr>
            <p:ph idx="101" type="body"/>
          </p:nvPr>
        </p:nvSpPr>
        <p:spPr>
          <a:xfrm>
            <a:off x="812800" y="1960881"/>
            <a:ext cx="10566400" cy="4084319"/>
          </a:xfrm>
          <a:prstGeom prst="rect">
            <a:avLst/>
          </a:prstGeom>
          <a:noFill/>
          <a:ln/>
        </p:spPr>
        <p:txBody>
          <a:bodyPr wrap="square" lIns="0" tIns="0" rIns="0" bIns="0" rtlCol="0" anchor="t"/>
          <a:lstStyle>
            <a:lvl1pPr algn="l" indent="0" marL="0">
              <a:lnSpc>
                <a:spcPct val="140000"/>
              </a:lnSpc>
              <a:buNone/>
              <a:defRPr lang="en-US" sz="1600" dirty="0">
                <a:solidFill>
                  <a:srgbClr val="1F2328"/>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latin typeface="IBM Plex Sans" charset="0"/>
              <a:ea typeface="IBM Plex Sans" charset="0"/>
              <a:cs typeface="IBM Plex Sans"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2.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7470775" y="1069975"/>
            <a:ext cx="3905250" cy="3229610"/>
          </a:xfrm>
          <a:prstGeom prst="roundRect">
            <a:avLst>
              <a:gd name="adj" fmla="val 3048"/>
            </a:avLst>
          </a:prstGeom>
          <a:solidFill>
            <a:srgbClr val="161B22"/>
          </a:solidFill>
          <a:ln w="6350">
            <a:solidFill>
              <a:srgbClr val="30363D"/>
            </a:solidFill>
            <a:prstDash val="solid"/>
          </a:ln>
          <a:effectLst>
            <a:outerShdw sx="100000" sy="100000" kx="0" ky="0" algn="bl" rotWithShape="0" blurRad="406400" dist="152400" dir="5400000">
              <a:srgbClr val="000000">
                <a:alpha val="45000"/>
              </a:srgbClr>
            </a:outerShdw>
          </a:effectLst>
        </p:spPr>
      </p:sp>
      <p:sp>
        <p:nvSpPr>
          <p:cNvPr id="3" name="Text 1"/>
          <p:cNvSpPr/>
          <p:nvPr/>
        </p:nvSpPr>
        <p:spPr>
          <a:xfrm>
            <a:off x="7777480" y="1376680"/>
            <a:ext cx="339059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198A1"/>
                </a:solidFill>
                <a:latin typeface="JetBrains Mono" pitchFamily="49" charset="0"/>
                <a:ea typeface="JetBrains Mono" pitchFamily="49" charset="-122"/>
                <a:cs typeface="JetBrains Mono" pitchFamily="49" charset="-120"/>
              </a:rPr>
              <a:t>STATE I0</a:t>
            </a:r>
            <a:endParaRPr lang="en-US" sz="1200" dirty="0">
              <a:latin typeface="JetBrains Mono" charset="0"/>
              <a:ea typeface="JetBrains Mono" charset="0"/>
              <a:cs typeface="JetBrains Mono" charset="0"/>
            </a:endParaRPr>
          </a:p>
        </p:txBody>
      </p:sp>
      <p:sp>
        <p:nvSpPr>
          <p:cNvPr id="4" name="Text 2"/>
          <p:cNvSpPr/>
          <p:nvPr/>
        </p:nvSpPr>
        <p:spPr>
          <a:xfrm>
            <a:off x="7777480" y="1717040"/>
            <a:ext cx="3390595" cy="2301240"/>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79C0FF"/>
                </a:solidFill>
                <a:latin typeface="JetBrains Mono" pitchFamily="49" charset="0"/>
                <a:ea typeface="JetBrains Mono" pitchFamily="49" charset="-122"/>
                <a:cs typeface="JetBrains Mono" pitchFamily="49" charset="-120"/>
              </a:rPr>
              <a:t>E′</a:t>
            </a:r>
            <a:r>
              <a:rPr lang="en-US" sz="1600" dirty="0">
                <a:solidFill>
                  <a:srgbClr val="E6EDF3"/>
                </a:solidFill>
                <a:latin typeface="JetBrains Mono" pitchFamily="49" charset="0"/>
                <a:ea typeface="JetBrains Mono" pitchFamily="49" charset="-122"/>
                <a:cs typeface="JetBrains Mono" pitchFamily="49" charset="-120"/>
              </a:rPr>
              <a:t> → ·</a:t>
            </a:r>
            <a:r>
              <a:rPr lang="en-US" sz="1600" dirty="0">
                <a:solidFill>
                  <a:srgbClr val="79C0FF"/>
                </a:solidFill>
                <a:latin typeface="JetBrains Mono" pitchFamily="49" charset="0"/>
                <a:ea typeface="JetBrains Mono" pitchFamily="49" charset="-122"/>
                <a:cs typeface="JetBrains Mono" pitchFamily="49" charset="-120"/>
              </a:rPr>
              <a:t>E</a:t>
            </a:r>
            <a:endParaRPr lang="en-US" sz="1600" dirty="0">
              <a:latin typeface="JetBrains Mono" charset="0"/>
              <a:ea typeface="JetBrains Mono" charset="0"/>
              <a:cs typeface="JetBrains Mono" charset="0"/>
            </a:endParaRPr>
          </a:p>
          <a:p>
            <a:pPr algn="l" indent="0" marL="0">
              <a:lnSpc>
                <a:spcPts val="2560"/>
              </a:lnSpc>
              <a:buNone/>
            </a:pPr>
            <a:r>
              <a:rPr lang="en-US" sz="1600" dirty="0">
                <a:solidFill>
                  <a:srgbClr val="79C0FF"/>
                </a:solidFill>
                <a:latin typeface="JetBrains Mono" pitchFamily="49" charset="0"/>
                <a:ea typeface="JetBrains Mono" pitchFamily="49" charset="-122"/>
                <a:cs typeface="JetBrains Mono" pitchFamily="49" charset="-120"/>
              </a:rPr>
              <a:t>E</a:t>
            </a:r>
            <a:r>
              <a:rPr lang="en-US" sz="1600" dirty="0">
                <a:solidFill>
                  <a:srgbClr val="E6EDF3"/>
                </a:solidFill>
                <a:latin typeface="JetBrains Mono" pitchFamily="49" charset="0"/>
                <a:ea typeface="JetBrains Mono" pitchFamily="49" charset="-122"/>
                <a:cs typeface="JetBrains Mono" pitchFamily="49" charset="-120"/>
              </a:rPr>
              <a:t> → ·</a:t>
            </a:r>
            <a:r>
              <a:rPr lang="en-US" sz="1600" dirty="0">
                <a:solidFill>
                  <a:srgbClr val="79C0FF"/>
                </a:solidFill>
                <a:latin typeface="JetBrains Mono" pitchFamily="49" charset="0"/>
                <a:ea typeface="JetBrains Mono" pitchFamily="49" charset="-122"/>
                <a:cs typeface="JetBrains Mono" pitchFamily="49" charset="-120"/>
              </a:rPr>
              <a:t>E</a:t>
            </a:r>
            <a:r>
              <a:rPr lang="en-US" sz="1600" dirty="0">
                <a:solidFill>
                  <a:srgbClr val="E6EDF3"/>
                </a:solidFill>
                <a:latin typeface="JetBrains Mono" pitchFamily="49" charset="0"/>
                <a:ea typeface="JetBrains Mono" pitchFamily="49" charset="-122"/>
                <a:cs typeface="JetBrains Mono" pitchFamily="49" charset="-120"/>
              </a:rPr>
              <a:t> </a:t>
            </a:r>
            <a:r>
              <a:rPr lang="en-US" sz="1600" dirty="0">
                <a:solidFill>
                  <a:srgbClr val="FFA657"/>
                </a:solidFill>
                <a:latin typeface="JetBrains Mono" pitchFamily="49" charset="0"/>
                <a:ea typeface="JetBrains Mono" pitchFamily="49" charset="-122"/>
                <a:cs typeface="JetBrains Mono" pitchFamily="49" charset="-120"/>
              </a:rPr>
              <a:t>+</a:t>
            </a:r>
            <a:r>
              <a:rPr lang="en-US" sz="1600" dirty="0">
                <a:solidFill>
                  <a:srgbClr val="E6EDF3"/>
                </a:solidFill>
                <a:latin typeface="JetBrains Mono" pitchFamily="49" charset="0"/>
                <a:ea typeface="JetBrains Mono" pitchFamily="49" charset="-122"/>
                <a:cs typeface="JetBrains Mono" pitchFamily="49" charset="-120"/>
              </a:rPr>
              <a:t> </a:t>
            </a:r>
            <a:r>
              <a:rPr lang="en-US" sz="1600" dirty="0">
                <a:solidFill>
                  <a:srgbClr val="79C0FF"/>
                </a:solidFill>
                <a:latin typeface="JetBrains Mono" pitchFamily="49" charset="0"/>
                <a:ea typeface="JetBrains Mono" pitchFamily="49" charset="-122"/>
                <a:cs typeface="JetBrains Mono" pitchFamily="49" charset="-120"/>
              </a:rPr>
              <a:t>T</a:t>
            </a:r>
            <a:endParaRPr lang="en-US" sz="1600" dirty="0">
              <a:latin typeface="JetBrains Mono" charset="0"/>
              <a:ea typeface="JetBrains Mono" charset="0"/>
              <a:cs typeface="JetBrains Mono" charset="0"/>
            </a:endParaRPr>
          </a:p>
          <a:p>
            <a:pPr algn="l" indent="0" marL="0">
              <a:lnSpc>
                <a:spcPts val="2560"/>
              </a:lnSpc>
              <a:buNone/>
            </a:pPr>
            <a:r>
              <a:rPr lang="en-US" sz="1600" dirty="0">
                <a:solidFill>
                  <a:srgbClr val="79C0FF"/>
                </a:solidFill>
                <a:latin typeface="JetBrains Mono" pitchFamily="49" charset="0"/>
                <a:ea typeface="JetBrains Mono" pitchFamily="49" charset="-122"/>
                <a:cs typeface="JetBrains Mono" pitchFamily="49" charset="-120"/>
              </a:rPr>
              <a:t>E</a:t>
            </a:r>
            <a:r>
              <a:rPr lang="en-US" sz="1600" dirty="0">
                <a:solidFill>
                  <a:srgbClr val="E6EDF3"/>
                </a:solidFill>
                <a:latin typeface="JetBrains Mono" pitchFamily="49" charset="0"/>
                <a:ea typeface="JetBrains Mono" pitchFamily="49" charset="-122"/>
                <a:cs typeface="JetBrains Mono" pitchFamily="49" charset="-120"/>
              </a:rPr>
              <a:t> → ·</a:t>
            </a:r>
            <a:r>
              <a:rPr lang="en-US" sz="1600" dirty="0">
                <a:solidFill>
                  <a:srgbClr val="79C0FF"/>
                </a:solidFill>
                <a:latin typeface="JetBrains Mono" pitchFamily="49" charset="0"/>
                <a:ea typeface="JetBrains Mono" pitchFamily="49" charset="-122"/>
                <a:cs typeface="JetBrains Mono" pitchFamily="49" charset="-120"/>
              </a:rPr>
              <a:t>T</a:t>
            </a:r>
            <a:endParaRPr lang="en-US" sz="1600" dirty="0">
              <a:latin typeface="JetBrains Mono" charset="0"/>
              <a:ea typeface="JetBrains Mono" charset="0"/>
              <a:cs typeface="JetBrains Mono" charset="0"/>
            </a:endParaRPr>
          </a:p>
          <a:p>
            <a:pPr algn="l" indent="0" marL="0">
              <a:lnSpc>
                <a:spcPts val="2560"/>
              </a:lnSpc>
              <a:buNone/>
            </a:pPr>
            <a:r>
              <a:rPr lang="en-US" sz="1600" dirty="0">
                <a:solidFill>
                  <a:srgbClr val="79C0FF"/>
                </a:solidFill>
                <a:latin typeface="JetBrains Mono" pitchFamily="49" charset="0"/>
                <a:ea typeface="JetBrains Mono" pitchFamily="49" charset="-122"/>
                <a:cs typeface="JetBrains Mono" pitchFamily="49" charset="-120"/>
              </a:rPr>
              <a:t>T</a:t>
            </a:r>
            <a:r>
              <a:rPr lang="en-US" sz="1600" dirty="0">
                <a:solidFill>
                  <a:srgbClr val="E6EDF3"/>
                </a:solidFill>
                <a:latin typeface="JetBrains Mono" pitchFamily="49" charset="0"/>
                <a:ea typeface="JetBrains Mono" pitchFamily="49" charset="-122"/>
                <a:cs typeface="JetBrains Mono" pitchFamily="49" charset="-120"/>
              </a:rPr>
              <a:t> → ·</a:t>
            </a:r>
            <a:r>
              <a:rPr lang="en-US" sz="1600" dirty="0">
                <a:solidFill>
                  <a:srgbClr val="79C0FF"/>
                </a:solidFill>
                <a:latin typeface="JetBrains Mono" pitchFamily="49" charset="0"/>
                <a:ea typeface="JetBrains Mono" pitchFamily="49" charset="-122"/>
                <a:cs typeface="JetBrains Mono" pitchFamily="49" charset="-120"/>
              </a:rPr>
              <a:t>T</a:t>
            </a:r>
            <a:r>
              <a:rPr lang="en-US" sz="1600" dirty="0">
                <a:solidFill>
                  <a:srgbClr val="E6EDF3"/>
                </a:solidFill>
                <a:latin typeface="JetBrains Mono" pitchFamily="49" charset="0"/>
                <a:ea typeface="JetBrains Mono" pitchFamily="49" charset="-122"/>
                <a:cs typeface="JetBrains Mono" pitchFamily="49" charset="-120"/>
              </a:rPr>
              <a:t> </a:t>
            </a:r>
            <a:r>
              <a:rPr lang="en-US" sz="1600" dirty="0">
                <a:solidFill>
                  <a:srgbClr val="FFA657"/>
                </a:solidFill>
                <a:latin typeface="JetBrains Mono" pitchFamily="49" charset="0"/>
                <a:ea typeface="JetBrains Mono" pitchFamily="49" charset="-122"/>
                <a:cs typeface="JetBrains Mono" pitchFamily="49" charset="-120"/>
              </a:rPr>
              <a:t>*</a:t>
            </a:r>
            <a:r>
              <a:rPr lang="en-US" sz="1600" dirty="0">
                <a:solidFill>
                  <a:srgbClr val="E6EDF3"/>
                </a:solidFill>
                <a:latin typeface="JetBrains Mono" pitchFamily="49" charset="0"/>
                <a:ea typeface="JetBrains Mono" pitchFamily="49" charset="-122"/>
                <a:cs typeface="JetBrains Mono" pitchFamily="49" charset="-120"/>
              </a:rPr>
              <a:t> </a:t>
            </a:r>
            <a:r>
              <a:rPr lang="en-US" sz="1600" dirty="0">
                <a:solidFill>
                  <a:srgbClr val="79C0FF"/>
                </a:solidFill>
                <a:latin typeface="JetBrains Mono" pitchFamily="49" charset="0"/>
                <a:ea typeface="JetBrains Mono" pitchFamily="49" charset="-122"/>
                <a:cs typeface="JetBrains Mono" pitchFamily="49" charset="-120"/>
              </a:rPr>
              <a:t>F</a:t>
            </a:r>
            <a:endParaRPr lang="en-US" sz="1600" dirty="0">
              <a:latin typeface="JetBrains Mono" charset="0"/>
              <a:ea typeface="JetBrains Mono" charset="0"/>
              <a:cs typeface="JetBrains Mono" charset="0"/>
            </a:endParaRPr>
          </a:p>
          <a:p>
            <a:pPr algn="l" indent="0" marL="0">
              <a:lnSpc>
                <a:spcPts val="2560"/>
              </a:lnSpc>
              <a:buNone/>
            </a:pPr>
            <a:r>
              <a:rPr lang="en-US" sz="1600" dirty="0">
                <a:solidFill>
                  <a:srgbClr val="79C0FF"/>
                </a:solidFill>
                <a:latin typeface="JetBrains Mono" pitchFamily="49" charset="0"/>
                <a:ea typeface="JetBrains Mono" pitchFamily="49" charset="-122"/>
                <a:cs typeface="JetBrains Mono" pitchFamily="49" charset="-120"/>
              </a:rPr>
              <a:t>T</a:t>
            </a:r>
            <a:r>
              <a:rPr lang="en-US" sz="1600" dirty="0">
                <a:solidFill>
                  <a:srgbClr val="E6EDF3"/>
                </a:solidFill>
                <a:latin typeface="JetBrains Mono" pitchFamily="49" charset="0"/>
                <a:ea typeface="JetBrains Mono" pitchFamily="49" charset="-122"/>
                <a:cs typeface="JetBrains Mono" pitchFamily="49" charset="-120"/>
              </a:rPr>
              <a:t> → ·</a:t>
            </a:r>
            <a:r>
              <a:rPr lang="en-US" sz="1600" dirty="0">
                <a:solidFill>
                  <a:srgbClr val="79C0FF"/>
                </a:solidFill>
                <a:latin typeface="JetBrains Mono" pitchFamily="49" charset="0"/>
                <a:ea typeface="JetBrains Mono" pitchFamily="49" charset="-122"/>
                <a:cs typeface="JetBrains Mono" pitchFamily="49" charset="-120"/>
              </a:rPr>
              <a:t>F</a:t>
            </a:r>
            <a:endParaRPr lang="en-US" sz="1600" dirty="0">
              <a:latin typeface="JetBrains Mono" charset="0"/>
              <a:ea typeface="JetBrains Mono" charset="0"/>
              <a:cs typeface="JetBrains Mono" charset="0"/>
            </a:endParaRPr>
          </a:p>
          <a:p>
            <a:pPr algn="l" indent="0" marL="0">
              <a:lnSpc>
                <a:spcPts val="2560"/>
              </a:lnSpc>
              <a:buNone/>
            </a:pPr>
            <a:r>
              <a:rPr lang="en-US" sz="1600" dirty="0">
                <a:solidFill>
                  <a:srgbClr val="79C0FF"/>
                </a:solidFill>
                <a:latin typeface="JetBrains Mono" pitchFamily="49" charset="0"/>
                <a:ea typeface="JetBrains Mono" pitchFamily="49" charset="-122"/>
                <a:cs typeface="JetBrains Mono" pitchFamily="49" charset="-120"/>
              </a:rPr>
              <a:t>F</a:t>
            </a:r>
            <a:r>
              <a:rPr lang="en-US" sz="1600" dirty="0">
                <a:solidFill>
                  <a:srgbClr val="E6EDF3"/>
                </a:solidFill>
                <a:latin typeface="JetBrains Mono" pitchFamily="49" charset="0"/>
                <a:ea typeface="JetBrains Mono" pitchFamily="49" charset="-122"/>
                <a:cs typeface="JetBrains Mono" pitchFamily="49" charset="-120"/>
              </a:rPr>
              <a:t> → ·</a:t>
            </a:r>
            <a:r>
              <a:rPr lang="en-US" sz="1600" dirty="0">
                <a:solidFill>
                  <a:srgbClr val="FFA657"/>
                </a:solidFill>
                <a:latin typeface="JetBrains Mono" pitchFamily="49" charset="0"/>
                <a:ea typeface="JetBrains Mono" pitchFamily="49" charset="-122"/>
                <a:cs typeface="JetBrains Mono" pitchFamily="49" charset="-120"/>
              </a:rPr>
              <a:t>(</a:t>
            </a:r>
            <a:r>
              <a:rPr lang="en-US" sz="1600" dirty="0">
                <a:solidFill>
                  <a:srgbClr val="E6EDF3"/>
                </a:solidFill>
                <a:latin typeface="JetBrains Mono" pitchFamily="49" charset="0"/>
                <a:ea typeface="JetBrains Mono" pitchFamily="49" charset="-122"/>
                <a:cs typeface="JetBrains Mono" pitchFamily="49" charset="-120"/>
              </a:rPr>
              <a:t> </a:t>
            </a:r>
            <a:r>
              <a:rPr lang="en-US" sz="1600" dirty="0">
                <a:solidFill>
                  <a:srgbClr val="79C0FF"/>
                </a:solidFill>
                <a:latin typeface="JetBrains Mono" pitchFamily="49" charset="0"/>
                <a:ea typeface="JetBrains Mono" pitchFamily="49" charset="-122"/>
                <a:cs typeface="JetBrains Mono" pitchFamily="49" charset="-120"/>
              </a:rPr>
              <a:t>E</a:t>
            </a:r>
            <a:r>
              <a:rPr lang="en-US" sz="1600" dirty="0">
                <a:solidFill>
                  <a:srgbClr val="E6EDF3"/>
                </a:solidFill>
                <a:latin typeface="JetBrains Mono" pitchFamily="49" charset="0"/>
                <a:ea typeface="JetBrains Mono" pitchFamily="49" charset="-122"/>
                <a:cs typeface="JetBrains Mono" pitchFamily="49" charset="-120"/>
              </a:rPr>
              <a:t> </a:t>
            </a:r>
            <a:r>
              <a:rPr lang="en-US" sz="1600" dirty="0">
                <a:solidFill>
                  <a:srgbClr val="FFA657"/>
                </a:solidFill>
                <a:latin typeface="JetBrains Mono" pitchFamily="49" charset="0"/>
                <a:ea typeface="JetBrains Mono" pitchFamily="49" charset="-122"/>
                <a:cs typeface="JetBrains Mono" pitchFamily="49" charset="-120"/>
              </a:rPr>
              <a:t>)</a:t>
            </a:r>
            <a:endParaRPr lang="en-US" sz="1600" dirty="0">
              <a:latin typeface="JetBrains Mono" charset="0"/>
              <a:ea typeface="JetBrains Mono" charset="0"/>
              <a:cs typeface="JetBrains Mono" charset="0"/>
            </a:endParaRPr>
          </a:p>
          <a:p>
            <a:pPr algn="l" indent="0" marL="0">
              <a:lnSpc>
                <a:spcPts val="2560"/>
              </a:lnSpc>
              <a:buNone/>
            </a:pPr>
            <a:r>
              <a:rPr lang="en-US" sz="1600" dirty="0">
                <a:solidFill>
                  <a:srgbClr val="79C0FF"/>
                </a:solidFill>
                <a:latin typeface="JetBrains Mono" pitchFamily="49" charset="0"/>
                <a:ea typeface="JetBrains Mono" pitchFamily="49" charset="-122"/>
                <a:cs typeface="JetBrains Mono" pitchFamily="49" charset="-120"/>
              </a:rPr>
              <a:t>F</a:t>
            </a:r>
            <a:r>
              <a:rPr lang="en-US" sz="1600" dirty="0">
                <a:solidFill>
                  <a:srgbClr val="E6EDF3"/>
                </a:solidFill>
                <a:latin typeface="JetBrains Mono" pitchFamily="49" charset="0"/>
                <a:ea typeface="JetBrains Mono" pitchFamily="49" charset="-122"/>
                <a:cs typeface="JetBrains Mono" pitchFamily="49" charset="-120"/>
              </a:rPr>
              <a:t> → ·</a:t>
            </a:r>
            <a:r>
              <a:rPr lang="en-US" sz="1600" dirty="0">
                <a:solidFill>
                  <a:srgbClr val="FFA657"/>
                </a:solidFill>
                <a:latin typeface="JetBrains Mono" pitchFamily="49" charset="0"/>
                <a:ea typeface="JetBrains Mono" pitchFamily="49" charset="-122"/>
                <a:cs typeface="JetBrains Mono" pitchFamily="49" charset="-120"/>
              </a:rPr>
              <a:t>id</a:t>
            </a:r>
            <a:endParaRPr lang="en-US" sz="1600" dirty="0">
              <a:latin typeface="JetBrains Mono" charset="0"/>
              <a:ea typeface="JetBrains Mono" charset="0"/>
              <a:cs typeface="JetBrains Mono" charset="0"/>
            </a:endParaRPr>
          </a:p>
        </p:txBody>
      </p:sp>
      <p:sp>
        <p:nvSpPr>
          <p:cNvPr id="5" name="Text 3"/>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A657"/>
                </a:solidFill>
                <a:latin typeface="JetBrains Mono" pitchFamily="49" charset="0"/>
                <a:ea typeface="JetBrains Mono" pitchFamily="49" charset="-122"/>
                <a:cs typeface="JetBrains Mono" pitchFamily="49" charset="-120"/>
              </a:rPr>
              <a:t>COMPILER DESIGN LAB PROJECT</a:t>
            </a:r>
            <a:endParaRPr lang="en-US" sz="1200" dirty="0">
              <a:latin typeface="JetBrains Mono" charset="0"/>
              <a:ea typeface="JetBrains Mono" charset="0"/>
              <a:cs typeface="JetBrains Mono" charset="0"/>
            </a:endParaRPr>
          </a:p>
        </p:txBody>
      </p:sp>
      <p:sp>
        <p:nvSpPr>
          <p:cNvPr id="6" name="Text 4"/>
          <p:cNvSpPr/>
          <p:nvPr>
            <p:ph type="title"/>
          </p:nvPr>
        </p:nvSpPr>
        <p:spPr>
          <a:xfrm>
            <a:off x="812800" y="2564130"/>
            <a:ext cx="6278880" cy="8255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E6EDF3"/>
                </a:solidFill>
                <a:latin typeface="IBM Plex Sans" pitchFamily="34" charset="0"/>
                <a:ea typeface="IBM Plex Sans" pitchFamily="34" charset="-122"/>
                <a:cs typeface="IBM Plex Sans" pitchFamily="34" charset="-120"/>
              </a:rPr>
              <a:t>Lookahead</a:t>
            </a:r>
            <a:endParaRPr lang="en-US" sz="6000" dirty="0">
              <a:latin typeface="IBM Plex Sans" charset="0"/>
              <a:ea typeface="IBM Plex Sans" charset="0"/>
              <a:cs typeface="IBM Plex Sans" charset="0"/>
            </a:endParaRPr>
          </a:p>
        </p:txBody>
      </p:sp>
      <p:sp>
        <p:nvSpPr>
          <p:cNvPr id="7" name="Text 5"/>
          <p:cNvSpPr/>
          <p:nvPr/>
        </p:nvSpPr>
        <p:spPr>
          <a:xfrm>
            <a:off x="812800" y="3567430"/>
            <a:ext cx="627888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C8D2"/>
                </a:solidFill>
                <a:latin typeface="IBM Plex Sans" pitchFamily="34" charset="0"/>
                <a:ea typeface="IBM Plex Sans" pitchFamily="34" charset="-122"/>
                <a:cs typeface="IBM Plex Sans" pitchFamily="34" charset="-120"/>
              </a:rPr>
              <a:t>SLR, CLR and LALR parsing table generation and simulation, with every step shown</a:t>
            </a:r>
            <a:endParaRPr lang="en-US" sz="2200" dirty="0">
              <a:latin typeface="IBM Plex Sans" charset="0"/>
              <a:ea typeface="IBM Plex Sans" charset="0"/>
              <a:cs typeface="IBM Plex Sans" charset="0"/>
            </a:endParaRPr>
          </a:p>
        </p:txBody>
      </p:sp>
      <p:sp>
        <p:nvSpPr>
          <p:cNvPr id="8" name="Text 6"/>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198A1"/>
                </a:solidFill>
                <a:latin typeface="IBM Plex Sans" pitchFamily="34" charset="0"/>
                <a:ea typeface="IBM Plex Sans" pitchFamily="34" charset="-122"/>
                <a:cs typeface="IBM Plex Sans" pitchFamily="34" charset="-120"/>
              </a:rPr>
              <a:t>[Team member names] · Guided by [Guide name] · [Date]</a:t>
            </a:r>
            <a:endParaRPr lang="en-US" sz="1200" dirty="0">
              <a:latin typeface="IBM Plex Sans" charset="0"/>
              <a:ea typeface="IBM Plex Sans" charset="0"/>
              <a:cs typeface="IBM Plex Sans"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953800"/>
                </a:solidFill>
                <a:latin typeface="JetBrains Mono" pitchFamily="49" charset="0"/>
                <a:ea typeface="JetBrains Mono" pitchFamily="49" charset="-122"/>
                <a:cs typeface="JetBrains Mono" pitchFamily="49" charset="-120"/>
              </a:rPr>
              <a:t>THE PROBLEM</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153160"/>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F2328"/>
                </a:solidFill>
                <a:latin typeface="IBM Plex Sans" pitchFamily="34" charset="0"/>
                <a:ea typeface="IBM Plex Sans" pitchFamily="34" charset="-122"/>
                <a:cs typeface="IBM Plex Sans" pitchFamily="34" charset="-120"/>
              </a:rPr>
              <a:t>LR parsing is taught on paper, where one slip in a closure spoils the whole table</a:t>
            </a:r>
            <a:endParaRPr lang="en-US" sz="3600" dirty="0">
              <a:latin typeface="IBM Plex Sans" charset="0"/>
              <a:ea typeface="IBM Plex Sans" charset="0"/>
              <a:cs typeface="IBM Plex Sans" charset="0"/>
            </a:endParaRPr>
          </a:p>
        </p:txBody>
      </p:sp>
      <p:sp>
        <p:nvSpPr>
          <p:cNvPr id="4" name="Shape 2"/>
          <p:cNvSpPr/>
          <p:nvPr/>
        </p:nvSpPr>
        <p:spPr>
          <a:xfrm>
            <a:off x="815975" y="4488815"/>
            <a:ext cx="3380264" cy="1553210"/>
          </a:xfrm>
          <a:prstGeom prst="roundRect">
            <a:avLst>
              <a:gd name="adj" fmla="val 6337"/>
            </a:avLst>
          </a:prstGeom>
          <a:solidFill>
            <a:srgbClr val="FDFEFF"/>
          </a:solidFill>
          <a:ln w="6350">
            <a:solidFill>
              <a:srgbClr val="D0D7DE"/>
            </a:solidFill>
            <a:prstDash val="solid"/>
          </a:ln>
        </p:spPr>
      </p:sp>
      <p:sp>
        <p:nvSpPr>
          <p:cNvPr id="5" name="Text 3"/>
          <p:cNvSpPr/>
          <p:nvPr/>
        </p:nvSpPr>
        <p:spPr>
          <a:xfrm>
            <a:off x="1071880" y="4744720"/>
            <a:ext cx="295450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F2328"/>
                </a:solidFill>
                <a:latin typeface="IBM Plex Sans" pitchFamily="34" charset="0"/>
                <a:ea typeface="IBM Plex Sans" pitchFamily="34" charset="-122"/>
                <a:cs typeface="IBM Plex Sans" pitchFamily="34" charset="-120"/>
              </a:rPr>
              <a:t>Tables built by hand</a:t>
            </a:r>
            <a:endParaRPr lang="en-US" sz="1600" dirty="0">
              <a:latin typeface="IBM Plex Sans" charset="0"/>
              <a:ea typeface="IBM Plex Sans" charset="0"/>
              <a:cs typeface="IBM Plex Sans" charset="0"/>
            </a:endParaRPr>
          </a:p>
        </p:txBody>
      </p:sp>
      <p:sp>
        <p:nvSpPr>
          <p:cNvPr id="6" name="Text 4"/>
          <p:cNvSpPr/>
          <p:nvPr/>
        </p:nvSpPr>
        <p:spPr>
          <a:xfrm>
            <a:off x="1071880" y="5100320"/>
            <a:ext cx="2954507"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7606A"/>
                </a:solidFill>
                <a:latin typeface="IBM Plex Sans" pitchFamily="34" charset="0"/>
                <a:ea typeface="IBM Plex Sans" pitchFamily="34" charset="-122"/>
                <a:cs typeface="IBM Plex Sans" pitchFamily="34" charset="-120"/>
              </a:rPr>
              <a:t>A canonical LR(1) collection runs to many states. One wrong lookahead breaks every row built after it.</a:t>
            </a:r>
            <a:endParaRPr lang="en-US" sz="1200" dirty="0">
              <a:latin typeface="IBM Plex Sans" charset="0"/>
              <a:ea typeface="IBM Plex Sans" charset="0"/>
              <a:cs typeface="IBM Plex Sans" charset="0"/>
            </a:endParaRPr>
          </a:p>
        </p:txBody>
      </p:sp>
      <p:sp>
        <p:nvSpPr>
          <p:cNvPr id="7" name="Shape 5"/>
          <p:cNvSpPr/>
          <p:nvPr/>
        </p:nvSpPr>
        <p:spPr>
          <a:xfrm>
            <a:off x="4405789" y="4488815"/>
            <a:ext cx="3380343" cy="1553210"/>
          </a:xfrm>
          <a:prstGeom prst="roundRect">
            <a:avLst>
              <a:gd name="adj" fmla="val 6337"/>
            </a:avLst>
          </a:prstGeom>
          <a:solidFill>
            <a:srgbClr val="FDFEFF"/>
          </a:solidFill>
          <a:ln w="6350">
            <a:solidFill>
              <a:srgbClr val="D0D7DE"/>
            </a:solidFill>
            <a:prstDash val="solid"/>
          </a:ln>
        </p:spPr>
      </p:sp>
      <p:sp>
        <p:nvSpPr>
          <p:cNvPr id="8" name="Text 6"/>
          <p:cNvSpPr/>
          <p:nvPr/>
        </p:nvSpPr>
        <p:spPr>
          <a:xfrm>
            <a:off x="4661694" y="4744720"/>
            <a:ext cx="2954589"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F2328"/>
                </a:solidFill>
                <a:latin typeface="IBM Plex Sans" pitchFamily="34" charset="0"/>
                <a:ea typeface="IBM Plex Sans" pitchFamily="34" charset="-122"/>
                <a:cs typeface="IBM Plex Sans" pitchFamily="34" charset="-120"/>
              </a:rPr>
              <a:t>Results without reasons</a:t>
            </a:r>
            <a:endParaRPr lang="en-US" sz="1600" dirty="0">
              <a:latin typeface="IBM Plex Sans" charset="0"/>
              <a:ea typeface="IBM Plex Sans" charset="0"/>
              <a:cs typeface="IBM Plex Sans" charset="0"/>
            </a:endParaRPr>
          </a:p>
        </p:txBody>
      </p:sp>
      <p:sp>
        <p:nvSpPr>
          <p:cNvPr id="9" name="Text 7"/>
          <p:cNvSpPr/>
          <p:nvPr/>
        </p:nvSpPr>
        <p:spPr>
          <a:xfrm>
            <a:off x="4661694" y="5100320"/>
            <a:ext cx="2954589"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7606A"/>
                </a:solidFill>
                <a:latin typeface="IBM Plex Sans" pitchFamily="34" charset="0"/>
                <a:ea typeface="IBM Plex Sans" pitchFamily="34" charset="-122"/>
                <a:cs typeface="IBM Plex Sans" pitchFamily="34" charset="-120"/>
              </a:rPr>
              <a:t>A finished table says what each cell holds, not which item and rule put it there.</a:t>
            </a:r>
            <a:endParaRPr lang="en-US" sz="1200" dirty="0">
              <a:latin typeface="IBM Plex Sans" charset="0"/>
              <a:ea typeface="IBM Plex Sans" charset="0"/>
              <a:cs typeface="IBM Plex Sans" charset="0"/>
            </a:endParaRPr>
          </a:p>
        </p:txBody>
      </p:sp>
      <p:sp>
        <p:nvSpPr>
          <p:cNvPr id="10" name="Shape 8"/>
          <p:cNvSpPr/>
          <p:nvPr/>
        </p:nvSpPr>
        <p:spPr>
          <a:xfrm>
            <a:off x="7995682" y="4488815"/>
            <a:ext cx="3380343" cy="1553210"/>
          </a:xfrm>
          <a:prstGeom prst="roundRect">
            <a:avLst>
              <a:gd name="adj" fmla="val 6337"/>
            </a:avLst>
          </a:prstGeom>
          <a:solidFill>
            <a:srgbClr val="FDFEFF"/>
          </a:solidFill>
          <a:ln w="6350">
            <a:solidFill>
              <a:srgbClr val="D0D7DE"/>
            </a:solidFill>
            <a:prstDash val="solid"/>
          </a:ln>
        </p:spPr>
      </p:sp>
      <p:sp>
        <p:nvSpPr>
          <p:cNvPr id="11" name="Text 9"/>
          <p:cNvSpPr/>
          <p:nvPr/>
        </p:nvSpPr>
        <p:spPr>
          <a:xfrm>
            <a:off x="8251587" y="4744720"/>
            <a:ext cx="3121263"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F2328"/>
                </a:solidFill>
                <a:latin typeface="IBM Plex Sans" pitchFamily="34" charset="0"/>
                <a:ea typeface="IBM Plex Sans" pitchFamily="34" charset="-122"/>
                <a:cs typeface="IBM Plex Sans" pitchFamily="34" charset="-120"/>
              </a:rPr>
              <a:t>Three methods, worked apart</a:t>
            </a:r>
            <a:endParaRPr lang="en-US" sz="1600" dirty="0">
              <a:latin typeface="IBM Plex Sans" charset="0"/>
              <a:ea typeface="IBM Plex Sans" charset="0"/>
              <a:cs typeface="IBM Plex Sans" charset="0"/>
            </a:endParaRPr>
          </a:p>
        </p:txBody>
      </p:sp>
      <p:sp>
        <p:nvSpPr>
          <p:cNvPr id="12" name="Text 10"/>
          <p:cNvSpPr/>
          <p:nvPr/>
        </p:nvSpPr>
        <p:spPr>
          <a:xfrm>
            <a:off x="8251587" y="5100320"/>
            <a:ext cx="2954589"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7606A"/>
                </a:solidFill>
                <a:latin typeface="IBM Plex Sans" pitchFamily="34" charset="0"/>
                <a:ea typeface="IBM Plex Sans" pitchFamily="34" charset="-122"/>
                <a:cs typeface="IBM Plex Sans" pitchFamily="34" charset="-120"/>
              </a:rPr>
              <a:t>SLR, CLR and LALR are hard to compare when each one is built separately on a different page.</a:t>
            </a:r>
            <a:endParaRPr lang="en-US" sz="1200" dirty="0">
              <a:latin typeface="IBM Plex Sans" charset="0"/>
              <a:ea typeface="IBM Plex Sans" charset="0"/>
              <a:cs typeface="IBM Plex Sans"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953800"/>
                </a:solidFill>
                <a:latin typeface="JetBrains Mono" pitchFamily="49" charset="0"/>
                <a:ea typeface="JetBrains Mono" pitchFamily="49" charset="-122"/>
                <a:cs typeface="JetBrains Mono" pitchFamily="49" charset="-120"/>
              </a:rPr>
              <a:t>WHAT IT DOES</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153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F2328"/>
                </a:solidFill>
                <a:latin typeface="IBM Plex Sans" pitchFamily="34" charset="0"/>
                <a:ea typeface="IBM Plex Sans" pitchFamily="34" charset="-122"/>
                <a:cs typeface="IBM Plex Sans" pitchFamily="34" charset="-120"/>
              </a:rPr>
              <a:t>Any grammar in, every step out</a:t>
            </a:r>
            <a:endParaRPr lang="en-US" sz="3600" dirty="0">
              <a:latin typeface="IBM Plex Sans" charset="0"/>
              <a:ea typeface="IBM Plex Sans" charset="0"/>
              <a:cs typeface="IBM Plex Sans" charset="0"/>
            </a:endParaRPr>
          </a:p>
        </p:txBody>
      </p:sp>
      <p:sp>
        <p:nvSpPr>
          <p:cNvPr id="4" name="Shape 2"/>
          <p:cNvSpPr/>
          <p:nvPr/>
        </p:nvSpPr>
        <p:spPr>
          <a:xfrm>
            <a:off x="815975" y="2667636"/>
            <a:ext cx="1741170" cy="2081530"/>
          </a:xfrm>
          <a:prstGeom prst="roundRect">
            <a:avLst>
              <a:gd name="adj" fmla="val 5653"/>
            </a:avLst>
          </a:prstGeom>
          <a:solidFill>
            <a:srgbClr val="FDFEFF"/>
          </a:solidFill>
          <a:ln w="6350">
            <a:solidFill>
              <a:srgbClr val="D0D7DE"/>
            </a:solidFill>
            <a:prstDash val="solid"/>
          </a:ln>
        </p:spPr>
      </p:sp>
      <p:sp>
        <p:nvSpPr>
          <p:cNvPr id="5" name="Text 3"/>
          <p:cNvSpPr/>
          <p:nvPr/>
        </p:nvSpPr>
        <p:spPr>
          <a:xfrm>
            <a:off x="1021080" y="2872741"/>
            <a:ext cx="138176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969DA"/>
                </a:solidFill>
                <a:latin typeface="JetBrains Mono" pitchFamily="49" charset="0"/>
                <a:ea typeface="JetBrains Mono" pitchFamily="49" charset="-122"/>
                <a:cs typeface="JetBrains Mono" pitchFamily="49" charset="-120"/>
              </a:rPr>
              <a:t>1</a:t>
            </a:r>
            <a:endParaRPr lang="en-US" sz="2200" dirty="0">
              <a:latin typeface="JetBrains Mono" charset="0"/>
              <a:ea typeface="JetBrains Mono" charset="0"/>
              <a:cs typeface="JetBrains Mono" charset="0"/>
            </a:endParaRPr>
          </a:p>
        </p:txBody>
      </p:sp>
      <p:sp>
        <p:nvSpPr>
          <p:cNvPr id="6" name="Text 4"/>
          <p:cNvSpPr/>
          <p:nvPr/>
        </p:nvSpPr>
        <p:spPr>
          <a:xfrm>
            <a:off x="1021080" y="3340100"/>
            <a:ext cx="13817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328"/>
                </a:solidFill>
                <a:latin typeface="IBM Plex Sans" pitchFamily="34" charset="0"/>
                <a:ea typeface="IBM Plex Sans" pitchFamily="34" charset="-122"/>
                <a:cs typeface="IBM Plex Sans" pitchFamily="34" charset="-120"/>
              </a:rPr>
              <a:t>Grammar</a:t>
            </a:r>
            <a:endParaRPr lang="en-US" sz="1600" dirty="0">
              <a:latin typeface="IBM Plex Sans" charset="0"/>
              <a:ea typeface="IBM Plex Sans" charset="0"/>
              <a:cs typeface="IBM Plex Sans" charset="0"/>
            </a:endParaRPr>
          </a:p>
        </p:txBody>
      </p:sp>
      <p:sp>
        <p:nvSpPr>
          <p:cNvPr id="7" name="Text 5"/>
          <p:cNvSpPr/>
          <p:nvPr/>
        </p:nvSpPr>
        <p:spPr>
          <a:xfrm>
            <a:off x="1021080" y="3660141"/>
            <a:ext cx="1381760" cy="909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7606A"/>
                </a:solidFill>
                <a:latin typeface="IBM Plex Sans" pitchFamily="34" charset="0"/>
                <a:ea typeface="IBM Plex Sans" pitchFamily="34" charset="-122"/>
                <a:cs typeface="IBM Plex Sans" pitchFamily="34" charset="-120"/>
              </a:rPr>
              <a:t>Notation, diagnostics, augmented and numbered rules</a:t>
            </a:r>
            <a:endParaRPr lang="en-US" sz="1200" dirty="0">
              <a:latin typeface="IBM Plex Sans" charset="0"/>
              <a:ea typeface="IBM Plex Sans" charset="0"/>
              <a:cs typeface="IBM Plex Sans" charset="0"/>
            </a:endParaRPr>
          </a:p>
        </p:txBody>
      </p:sp>
      <p:pic>
        <p:nvPicPr>
          <p:cNvPr id="8" name="Image 0" descr="arrow-right">    </p:cNvPr>
          <p:cNvPicPr>
            <a:picLocks noChangeAspect="1"/>
          </p:cNvPicPr>
          <p:nvPr/>
        </p:nvPicPr>
        <p:blipFill>
          <a:blip r:embed="rId1"/>
          <a:srcRect l="0" r="0" t="0" b="0"/>
          <a:stretch/>
        </p:blipFill>
        <p:spPr>
          <a:xfrm>
            <a:off x="2661920" y="3632200"/>
            <a:ext cx="254000" cy="152400"/>
          </a:xfrm>
          <a:prstGeom prst="rect">
            <a:avLst/>
          </a:prstGeom>
        </p:spPr>
      </p:pic>
      <p:sp>
        <p:nvSpPr>
          <p:cNvPr id="9" name="Shape 6"/>
          <p:cNvSpPr/>
          <p:nvPr/>
        </p:nvSpPr>
        <p:spPr>
          <a:xfrm>
            <a:off x="3020695" y="2656205"/>
            <a:ext cx="1741170" cy="2104390"/>
          </a:xfrm>
          <a:prstGeom prst="roundRect">
            <a:avLst>
              <a:gd name="adj" fmla="val 5653"/>
            </a:avLst>
          </a:prstGeom>
          <a:solidFill>
            <a:srgbClr val="FDFEFF"/>
          </a:solidFill>
          <a:ln w="6350">
            <a:solidFill>
              <a:srgbClr val="D0D7DE"/>
            </a:solidFill>
            <a:prstDash val="solid"/>
          </a:ln>
        </p:spPr>
      </p:sp>
      <p:sp>
        <p:nvSpPr>
          <p:cNvPr id="10" name="Text 7"/>
          <p:cNvSpPr/>
          <p:nvPr/>
        </p:nvSpPr>
        <p:spPr>
          <a:xfrm>
            <a:off x="3225800" y="2861311"/>
            <a:ext cx="138176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969DA"/>
                </a:solidFill>
                <a:latin typeface="JetBrains Mono" pitchFamily="49" charset="0"/>
                <a:ea typeface="JetBrains Mono" pitchFamily="49" charset="-122"/>
                <a:cs typeface="JetBrains Mono" pitchFamily="49" charset="-120"/>
              </a:rPr>
              <a:t>2</a:t>
            </a:r>
            <a:endParaRPr lang="en-US" sz="2200" dirty="0">
              <a:latin typeface="JetBrains Mono" charset="0"/>
              <a:ea typeface="JetBrains Mono" charset="0"/>
              <a:cs typeface="JetBrains Mono" charset="0"/>
            </a:endParaRPr>
          </a:p>
        </p:txBody>
      </p:sp>
      <p:sp>
        <p:nvSpPr>
          <p:cNvPr id="11" name="Text 8"/>
          <p:cNvSpPr/>
          <p:nvPr/>
        </p:nvSpPr>
        <p:spPr>
          <a:xfrm>
            <a:off x="3225800" y="3328670"/>
            <a:ext cx="1381760"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328"/>
                </a:solidFill>
                <a:latin typeface="IBM Plex Sans" pitchFamily="34" charset="0"/>
                <a:ea typeface="IBM Plex Sans" pitchFamily="34" charset="-122"/>
                <a:cs typeface="IBM Plex Sans" pitchFamily="34" charset="-120"/>
              </a:rPr>
              <a:t>FIRST &amp; FOLLOW</a:t>
            </a:r>
            <a:endParaRPr lang="en-US" sz="1600" dirty="0">
              <a:latin typeface="IBM Plex Sans" charset="0"/>
              <a:ea typeface="IBM Plex Sans" charset="0"/>
              <a:cs typeface="IBM Plex Sans" charset="0"/>
            </a:endParaRPr>
          </a:p>
        </p:txBody>
      </p:sp>
      <p:sp>
        <p:nvSpPr>
          <p:cNvPr id="12" name="Text 9"/>
          <p:cNvSpPr/>
          <p:nvPr/>
        </p:nvSpPr>
        <p:spPr>
          <a:xfrm>
            <a:off x="3225800" y="3892550"/>
            <a:ext cx="1381760"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7606A"/>
                </a:solidFill>
                <a:latin typeface="IBM Plex Sans" pitchFamily="34" charset="0"/>
                <a:ea typeface="IBM Plex Sans" pitchFamily="34" charset="-122"/>
                <a:cs typeface="IBM Plex Sans" pitchFamily="34" charset="-120"/>
              </a:rPr>
              <a:t>Final sets, why each symbol is there, and a replay</a:t>
            </a:r>
            <a:endParaRPr lang="en-US" sz="1200" dirty="0">
              <a:latin typeface="IBM Plex Sans" charset="0"/>
              <a:ea typeface="IBM Plex Sans" charset="0"/>
              <a:cs typeface="IBM Plex Sans" charset="0"/>
            </a:endParaRPr>
          </a:p>
        </p:txBody>
      </p:sp>
      <p:pic>
        <p:nvPicPr>
          <p:cNvPr id="13" name="Image 1" descr="arrow-right">    </p:cNvPr>
          <p:cNvPicPr>
            <a:picLocks noChangeAspect="1"/>
          </p:cNvPicPr>
          <p:nvPr/>
        </p:nvPicPr>
        <p:blipFill>
          <a:blip r:embed="rId2"/>
          <a:srcRect l="0" r="0" t="0" b="0"/>
          <a:stretch/>
        </p:blipFill>
        <p:spPr>
          <a:xfrm>
            <a:off x="4866640" y="3632200"/>
            <a:ext cx="254000" cy="152400"/>
          </a:xfrm>
          <a:prstGeom prst="rect">
            <a:avLst/>
          </a:prstGeom>
        </p:spPr>
      </p:pic>
      <p:sp>
        <p:nvSpPr>
          <p:cNvPr id="14" name="Shape 10"/>
          <p:cNvSpPr/>
          <p:nvPr/>
        </p:nvSpPr>
        <p:spPr>
          <a:xfrm>
            <a:off x="5225415" y="2778125"/>
            <a:ext cx="1741170" cy="1860550"/>
          </a:xfrm>
          <a:prstGeom prst="roundRect">
            <a:avLst>
              <a:gd name="adj" fmla="val 5653"/>
            </a:avLst>
          </a:prstGeom>
          <a:solidFill>
            <a:srgbClr val="FDFEFF"/>
          </a:solidFill>
          <a:ln w="6350">
            <a:solidFill>
              <a:srgbClr val="D0D7DE"/>
            </a:solidFill>
            <a:prstDash val="solid"/>
          </a:ln>
        </p:spPr>
      </p:sp>
      <p:sp>
        <p:nvSpPr>
          <p:cNvPr id="15" name="Text 11"/>
          <p:cNvSpPr/>
          <p:nvPr/>
        </p:nvSpPr>
        <p:spPr>
          <a:xfrm>
            <a:off x="5430520" y="2983230"/>
            <a:ext cx="138176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969DA"/>
                </a:solidFill>
                <a:latin typeface="JetBrains Mono" pitchFamily="49" charset="0"/>
                <a:ea typeface="JetBrains Mono" pitchFamily="49" charset="-122"/>
                <a:cs typeface="JetBrains Mono" pitchFamily="49" charset="-120"/>
              </a:rPr>
              <a:t>3</a:t>
            </a:r>
            <a:endParaRPr lang="en-US" sz="2200" dirty="0">
              <a:latin typeface="JetBrains Mono" charset="0"/>
              <a:ea typeface="JetBrains Mono" charset="0"/>
              <a:cs typeface="JetBrains Mono" charset="0"/>
            </a:endParaRPr>
          </a:p>
        </p:txBody>
      </p:sp>
      <p:sp>
        <p:nvSpPr>
          <p:cNvPr id="16" name="Text 12"/>
          <p:cNvSpPr/>
          <p:nvPr/>
        </p:nvSpPr>
        <p:spPr>
          <a:xfrm>
            <a:off x="5430520" y="3450591"/>
            <a:ext cx="153289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328"/>
                </a:solidFill>
                <a:latin typeface="IBM Plex Sans" pitchFamily="34" charset="0"/>
                <a:ea typeface="IBM Plex Sans" pitchFamily="34" charset="-122"/>
                <a:cs typeface="IBM Plex Sans" pitchFamily="34" charset="-120"/>
              </a:rPr>
              <a:t>LR automaton</a:t>
            </a:r>
            <a:endParaRPr lang="en-US" sz="1600" dirty="0">
              <a:latin typeface="IBM Plex Sans" charset="0"/>
              <a:ea typeface="IBM Plex Sans" charset="0"/>
              <a:cs typeface="IBM Plex Sans" charset="0"/>
            </a:endParaRPr>
          </a:p>
        </p:txBody>
      </p:sp>
      <p:sp>
        <p:nvSpPr>
          <p:cNvPr id="17" name="Text 13"/>
          <p:cNvSpPr/>
          <p:nvPr/>
        </p:nvSpPr>
        <p:spPr>
          <a:xfrm>
            <a:off x="5430520" y="3770630"/>
            <a:ext cx="1381760"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7606A"/>
                </a:solidFill>
                <a:latin typeface="IBM Plex Sans" pitchFamily="34" charset="0"/>
                <a:ea typeface="IBM Plex Sans" pitchFamily="34" charset="-122"/>
                <a:cs typeface="IBM Plex Sans" pitchFamily="34" charset="-120"/>
              </a:rPr>
              <a:t>LR(0), LR(1) and LALR(1) state graphs</a:t>
            </a:r>
            <a:endParaRPr lang="en-US" sz="1200" dirty="0">
              <a:latin typeface="IBM Plex Sans" charset="0"/>
              <a:ea typeface="IBM Plex Sans" charset="0"/>
              <a:cs typeface="IBM Plex Sans" charset="0"/>
            </a:endParaRPr>
          </a:p>
        </p:txBody>
      </p:sp>
      <p:pic>
        <p:nvPicPr>
          <p:cNvPr id="18" name="Image 2" descr="arrow-right">    </p:cNvPr>
          <p:cNvPicPr>
            <a:picLocks noChangeAspect="1"/>
          </p:cNvPicPr>
          <p:nvPr/>
        </p:nvPicPr>
        <p:blipFill>
          <a:blip r:embed="rId3"/>
          <a:srcRect l="0" r="0" t="0" b="0"/>
          <a:stretch/>
        </p:blipFill>
        <p:spPr>
          <a:xfrm>
            <a:off x="7071360" y="3632200"/>
            <a:ext cx="254000" cy="152400"/>
          </a:xfrm>
          <a:prstGeom prst="rect">
            <a:avLst/>
          </a:prstGeom>
        </p:spPr>
      </p:pic>
      <p:sp>
        <p:nvSpPr>
          <p:cNvPr id="19" name="Shape 14"/>
          <p:cNvSpPr/>
          <p:nvPr/>
        </p:nvSpPr>
        <p:spPr>
          <a:xfrm>
            <a:off x="7430135" y="2778125"/>
            <a:ext cx="1741170" cy="1860550"/>
          </a:xfrm>
          <a:prstGeom prst="roundRect">
            <a:avLst>
              <a:gd name="adj" fmla="val 5653"/>
            </a:avLst>
          </a:prstGeom>
          <a:solidFill>
            <a:srgbClr val="FDFEFF"/>
          </a:solidFill>
          <a:ln w="6350">
            <a:solidFill>
              <a:srgbClr val="D0D7DE"/>
            </a:solidFill>
            <a:prstDash val="solid"/>
          </a:ln>
        </p:spPr>
      </p:sp>
      <p:sp>
        <p:nvSpPr>
          <p:cNvPr id="20" name="Text 15"/>
          <p:cNvSpPr/>
          <p:nvPr/>
        </p:nvSpPr>
        <p:spPr>
          <a:xfrm>
            <a:off x="7635240" y="2983230"/>
            <a:ext cx="138176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969DA"/>
                </a:solidFill>
                <a:latin typeface="JetBrains Mono" pitchFamily="49" charset="0"/>
                <a:ea typeface="JetBrains Mono" pitchFamily="49" charset="-122"/>
                <a:cs typeface="JetBrains Mono" pitchFamily="49" charset="-120"/>
              </a:rPr>
              <a:t>4</a:t>
            </a:r>
            <a:endParaRPr lang="en-US" sz="2200" dirty="0">
              <a:latin typeface="JetBrains Mono" charset="0"/>
              <a:ea typeface="JetBrains Mono" charset="0"/>
              <a:cs typeface="JetBrains Mono" charset="0"/>
            </a:endParaRPr>
          </a:p>
        </p:txBody>
      </p:sp>
      <p:sp>
        <p:nvSpPr>
          <p:cNvPr id="21" name="Text 16"/>
          <p:cNvSpPr/>
          <p:nvPr/>
        </p:nvSpPr>
        <p:spPr>
          <a:xfrm>
            <a:off x="7635240" y="3450591"/>
            <a:ext cx="13817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328"/>
                </a:solidFill>
                <a:latin typeface="IBM Plex Sans" pitchFamily="34" charset="0"/>
                <a:ea typeface="IBM Plex Sans" pitchFamily="34" charset="-122"/>
                <a:cs typeface="IBM Plex Sans" pitchFamily="34" charset="-120"/>
              </a:rPr>
              <a:t>Parsing table</a:t>
            </a:r>
            <a:endParaRPr lang="en-US" sz="1600" dirty="0">
              <a:latin typeface="IBM Plex Sans" charset="0"/>
              <a:ea typeface="IBM Plex Sans" charset="0"/>
              <a:cs typeface="IBM Plex Sans" charset="0"/>
            </a:endParaRPr>
          </a:p>
        </p:txBody>
      </p:sp>
      <p:sp>
        <p:nvSpPr>
          <p:cNvPr id="22" name="Text 17"/>
          <p:cNvSpPr/>
          <p:nvPr/>
        </p:nvSpPr>
        <p:spPr>
          <a:xfrm>
            <a:off x="7635240" y="3770630"/>
            <a:ext cx="1381760"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7606A"/>
                </a:solidFill>
                <a:latin typeface="IBM Plex Sans" pitchFamily="34" charset="0"/>
                <a:ea typeface="IBM Plex Sans" pitchFamily="34" charset="-122"/>
                <a:cs typeface="IBM Plex Sans" pitchFamily="34" charset="-120"/>
              </a:rPr>
              <a:t>ACTION and GOTO; click a cell to see its item</a:t>
            </a:r>
            <a:endParaRPr lang="en-US" sz="1200" dirty="0">
              <a:latin typeface="IBM Plex Sans" charset="0"/>
              <a:ea typeface="IBM Plex Sans" charset="0"/>
              <a:cs typeface="IBM Plex Sans" charset="0"/>
            </a:endParaRPr>
          </a:p>
        </p:txBody>
      </p:sp>
      <p:pic>
        <p:nvPicPr>
          <p:cNvPr id="23" name="Image 3" descr="arrow-right">    </p:cNvPr>
          <p:cNvPicPr>
            <a:picLocks noChangeAspect="1"/>
          </p:cNvPicPr>
          <p:nvPr/>
        </p:nvPicPr>
        <p:blipFill>
          <a:blip r:embed="rId4"/>
          <a:srcRect l="0" r="0" t="0" b="0"/>
          <a:stretch/>
        </p:blipFill>
        <p:spPr>
          <a:xfrm>
            <a:off x="9276080" y="3632200"/>
            <a:ext cx="254000" cy="152400"/>
          </a:xfrm>
          <a:prstGeom prst="rect">
            <a:avLst/>
          </a:prstGeom>
        </p:spPr>
      </p:pic>
      <p:sp>
        <p:nvSpPr>
          <p:cNvPr id="24" name="Shape 18"/>
          <p:cNvSpPr/>
          <p:nvPr/>
        </p:nvSpPr>
        <p:spPr>
          <a:xfrm>
            <a:off x="9634855" y="2656205"/>
            <a:ext cx="1741170" cy="2104390"/>
          </a:xfrm>
          <a:prstGeom prst="roundRect">
            <a:avLst>
              <a:gd name="adj" fmla="val 5653"/>
            </a:avLst>
          </a:prstGeom>
          <a:solidFill>
            <a:srgbClr val="FDFEFF"/>
          </a:solidFill>
          <a:ln w="6350">
            <a:solidFill>
              <a:srgbClr val="D0D7DE"/>
            </a:solidFill>
            <a:prstDash val="solid"/>
          </a:ln>
        </p:spPr>
      </p:sp>
      <p:sp>
        <p:nvSpPr>
          <p:cNvPr id="25" name="Text 19"/>
          <p:cNvSpPr/>
          <p:nvPr/>
        </p:nvSpPr>
        <p:spPr>
          <a:xfrm>
            <a:off x="9839960" y="2861311"/>
            <a:ext cx="138176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969DA"/>
                </a:solidFill>
                <a:latin typeface="JetBrains Mono" pitchFamily="49" charset="0"/>
                <a:ea typeface="JetBrains Mono" pitchFamily="49" charset="-122"/>
                <a:cs typeface="JetBrains Mono" pitchFamily="49" charset="-120"/>
              </a:rPr>
              <a:t>5</a:t>
            </a:r>
            <a:endParaRPr lang="en-US" sz="2200" dirty="0">
              <a:latin typeface="JetBrains Mono" charset="0"/>
              <a:ea typeface="JetBrains Mono" charset="0"/>
              <a:cs typeface="JetBrains Mono" charset="0"/>
            </a:endParaRPr>
          </a:p>
        </p:txBody>
      </p:sp>
      <p:sp>
        <p:nvSpPr>
          <p:cNvPr id="26" name="Text 20"/>
          <p:cNvSpPr/>
          <p:nvPr/>
        </p:nvSpPr>
        <p:spPr>
          <a:xfrm>
            <a:off x="9839960" y="3328670"/>
            <a:ext cx="1381760"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328"/>
                </a:solidFill>
                <a:latin typeface="IBM Plex Sans" pitchFamily="34" charset="0"/>
                <a:ea typeface="IBM Plex Sans" pitchFamily="34" charset="-122"/>
                <a:cs typeface="IBM Plex Sans" pitchFamily="34" charset="-120"/>
              </a:rPr>
              <a:t>Parse an input</a:t>
            </a:r>
            <a:endParaRPr lang="en-US" sz="1600" dirty="0">
              <a:latin typeface="IBM Plex Sans" charset="0"/>
              <a:ea typeface="IBM Plex Sans" charset="0"/>
              <a:cs typeface="IBM Plex Sans" charset="0"/>
            </a:endParaRPr>
          </a:p>
        </p:txBody>
      </p:sp>
      <p:sp>
        <p:nvSpPr>
          <p:cNvPr id="27" name="Text 21"/>
          <p:cNvSpPr/>
          <p:nvPr/>
        </p:nvSpPr>
        <p:spPr>
          <a:xfrm>
            <a:off x="9839960" y="3892550"/>
            <a:ext cx="1381760"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7606A"/>
                </a:solidFill>
                <a:latin typeface="IBM Plex Sans" pitchFamily="34" charset="0"/>
                <a:ea typeface="IBM Plex Sans" pitchFamily="34" charset="-122"/>
                <a:cs typeface="IBM Plex Sans" pitchFamily="34" charset="-120"/>
              </a:rPr>
              <a:t>Stack, tape, parse tree and rightmost derivation</a:t>
            </a:r>
            <a:endParaRPr lang="en-US" sz="1200" dirty="0">
              <a:latin typeface="IBM Plex Sans" charset="0"/>
              <a:ea typeface="IBM Plex Sans" charset="0"/>
              <a:cs typeface="IBM Plex Sans" charset="0"/>
            </a:endParaRPr>
          </a:p>
        </p:txBody>
      </p:sp>
      <p:sp>
        <p:nvSpPr>
          <p:cNvPr id="28" name="Text 22"/>
          <p:cNvSpPr/>
          <p:nvPr/>
        </p:nvSpPr>
        <p:spPr>
          <a:xfrm>
            <a:off x="812800" y="5760720"/>
            <a:ext cx="113792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7606A"/>
                </a:solidFill>
                <a:latin typeface="IBM Plex Sans" pitchFamily="34" charset="0"/>
                <a:ea typeface="IBM Plex Sans" pitchFamily="34" charset="-122"/>
                <a:cs typeface="IBM Plex Sans" pitchFamily="34" charset="-120"/>
              </a:rPr>
              <a:t>Nothing is hardcoded: every set, state, table cell and trace is computed by the engine from the grammar you type.</a:t>
            </a:r>
            <a:endParaRPr lang="en-US" sz="1600" dirty="0">
              <a:latin typeface="IBM Plex Sans" charset="0"/>
              <a:ea typeface="IBM Plex Sans" charset="0"/>
              <a:cs typeface="IBM Plex Sans"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953800"/>
                </a:solidFill>
                <a:latin typeface="JetBrains Mono" pitchFamily="49" charset="0"/>
                <a:ea typeface="JetBrains Mono" pitchFamily="49" charset="-122"/>
                <a:cs typeface="JetBrains Mono" pitchFamily="49" charset="-120"/>
              </a:rPr>
              <a:t>BEYOND THE FIVE STEPS</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153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F2328"/>
                </a:solidFill>
                <a:latin typeface="IBM Plex Sans" pitchFamily="34" charset="0"/>
                <a:ea typeface="IBM Plex Sans" pitchFamily="34" charset="-122"/>
                <a:cs typeface="IBM Plex Sans" pitchFamily="34" charset="-120"/>
              </a:rPr>
              <a:t>Tools to compare, diagnose and teach</a:t>
            </a:r>
            <a:endParaRPr lang="en-US" sz="3600" dirty="0">
              <a:latin typeface="IBM Plex Sans" charset="0"/>
              <a:ea typeface="IBM Plex Sans" charset="0"/>
              <a:cs typeface="IBM Plex Sans" charset="0"/>
            </a:endParaRPr>
          </a:p>
        </p:txBody>
      </p:sp>
      <p:sp>
        <p:nvSpPr>
          <p:cNvPr id="4" name="Shape 2"/>
          <p:cNvSpPr/>
          <p:nvPr/>
        </p:nvSpPr>
        <p:spPr>
          <a:xfrm>
            <a:off x="815975" y="1964055"/>
            <a:ext cx="3380264" cy="1654810"/>
          </a:xfrm>
          <a:prstGeom prst="roundRect">
            <a:avLst>
              <a:gd name="adj" fmla="val 5948"/>
            </a:avLst>
          </a:prstGeom>
          <a:solidFill>
            <a:srgbClr val="FDFEFF"/>
          </a:solidFill>
          <a:ln w="6350">
            <a:solidFill>
              <a:srgbClr val="D0D7DE"/>
            </a:solidFill>
            <a:prstDash val="solid"/>
          </a:ln>
        </p:spPr>
      </p:sp>
      <p:pic>
        <p:nvPicPr>
          <p:cNvPr id="5" name="Image 0" descr="Chart">    </p:cNvPr>
          <p:cNvPicPr>
            <a:picLocks noChangeAspect="1"/>
          </p:cNvPicPr>
          <p:nvPr/>
        </p:nvPicPr>
        <p:blipFill>
          <a:blip r:embed="rId1"/>
          <a:srcRect l="0" r="0" t="0" b="0"/>
          <a:stretch/>
        </p:blipFill>
        <p:spPr>
          <a:xfrm>
            <a:off x="1071880" y="2219961"/>
            <a:ext cx="304800" cy="304800"/>
          </a:xfrm>
          <a:prstGeom prst="rect">
            <a:avLst/>
          </a:prstGeom>
        </p:spPr>
      </p:pic>
      <p:sp>
        <p:nvSpPr>
          <p:cNvPr id="6" name="Text 3"/>
          <p:cNvSpPr/>
          <p:nvPr/>
        </p:nvSpPr>
        <p:spPr>
          <a:xfrm>
            <a:off x="1071880" y="2600961"/>
            <a:ext cx="295450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328"/>
                </a:solidFill>
                <a:latin typeface="IBM Plex Sans" pitchFamily="34" charset="0"/>
                <a:ea typeface="IBM Plex Sans" pitchFamily="34" charset="-122"/>
                <a:cs typeface="IBM Plex Sans" pitchFamily="34" charset="-120"/>
              </a:rPr>
              <a:t>Compare parsers</a:t>
            </a:r>
            <a:endParaRPr lang="en-US" sz="1600" dirty="0">
              <a:latin typeface="IBM Plex Sans" charset="0"/>
              <a:ea typeface="IBM Plex Sans" charset="0"/>
              <a:cs typeface="IBM Plex Sans" charset="0"/>
            </a:endParaRPr>
          </a:p>
        </p:txBody>
      </p:sp>
      <p:sp>
        <p:nvSpPr>
          <p:cNvPr id="7" name="Text 4"/>
          <p:cNvSpPr/>
          <p:nvPr/>
        </p:nvSpPr>
        <p:spPr>
          <a:xfrm>
            <a:off x="1071880" y="2921000"/>
            <a:ext cx="2954507"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7606A"/>
                </a:solidFill>
                <a:latin typeface="IBM Plex Sans" pitchFamily="34" charset="0"/>
                <a:ea typeface="IBM Plex Sans" pitchFamily="34" charset="-122"/>
                <a:cs typeface="IBM Plex Sans" pitchFamily="34" charset="-120"/>
              </a:rPr>
              <a:t>One input through SLR, CLR and LALR, with traces aligned and tables diffed.</a:t>
            </a:r>
            <a:endParaRPr lang="en-US" sz="1200" dirty="0">
              <a:latin typeface="IBM Plex Sans" charset="0"/>
              <a:ea typeface="IBM Plex Sans" charset="0"/>
              <a:cs typeface="IBM Plex Sans" charset="0"/>
            </a:endParaRPr>
          </a:p>
        </p:txBody>
      </p:sp>
      <p:sp>
        <p:nvSpPr>
          <p:cNvPr id="8" name="Shape 5"/>
          <p:cNvSpPr/>
          <p:nvPr/>
        </p:nvSpPr>
        <p:spPr>
          <a:xfrm>
            <a:off x="4405789" y="1964055"/>
            <a:ext cx="3380343" cy="1654810"/>
          </a:xfrm>
          <a:prstGeom prst="roundRect">
            <a:avLst>
              <a:gd name="adj" fmla="val 5948"/>
            </a:avLst>
          </a:prstGeom>
          <a:solidFill>
            <a:srgbClr val="FDFEFF"/>
          </a:solidFill>
          <a:ln w="6350">
            <a:solidFill>
              <a:srgbClr val="D0D7DE"/>
            </a:solidFill>
            <a:prstDash val="solid"/>
          </a:ln>
        </p:spPr>
      </p:sp>
      <p:pic>
        <p:nvPicPr>
          <p:cNvPr id="9" name="Image 1" descr="Warning">    </p:cNvPr>
          <p:cNvPicPr>
            <a:picLocks noChangeAspect="1"/>
          </p:cNvPicPr>
          <p:nvPr/>
        </p:nvPicPr>
        <p:blipFill>
          <a:blip r:embed="rId2"/>
          <a:srcRect l="0" r="0" t="0" b="0"/>
          <a:stretch/>
        </p:blipFill>
        <p:spPr>
          <a:xfrm>
            <a:off x="4661694" y="2219961"/>
            <a:ext cx="304800" cy="304800"/>
          </a:xfrm>
          <a:prstGeom prst="rect">
            <a:avLst/>
          </a:prstGeom>
        </p:spPr>
      </p:pic>
      <p:sp>
        <p:nvSpPr>
          <p:cNvPr id="10" name="Text 6"/>
          <p:cNvSpPr/>
          <p:nvPr/>
        </p:nvSpPr>
        <p:spPr>
          <a:xfrm>
            <a:off x="4661694" y="2600961"/>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328"/>
                </a:solidFill>
                <a:latin typeface="IBM Plex Sans" pitchFamily="34" charset="0"/>
                <a:ea typeface="IBM Plex Sans" pitchFamily="34" charset="-122"/>
                <a:cs typeface="IBM Plex Sans" pitchFamily="34" charset="-120"/>
              </a:rPr>
              <a:t>Conflicts</a:t>
            </a:r>
            <a:endParaRPr lang="en-US" sz="1600" dirty="0">
              <a:latin typeface="IBM Plex Sans" charset="0"/>
              <a:ea typeface="IBM Plex Sans" charset="0"/>
              <a:cs typeface="IBM Plex Sans" charset="0"/>
            </a:endParaRPr>
          </a:p>
        </p:txBody>
      </p:sp>
      <p:sp>
        <p:nvSpPr>
          <p:cNvPr id="11" name="Text 7"/>
          <p:cNvSpPr/>
          <p:nvPr/>
        </p:nvSpPr>
        <p:spPr>
          <a:xfrm>
            <a:off x="4661694" y="2921000"/>
            <a:ext cx="2954589"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7606A"/>
                </a:solidFill>
                <a:latin typeface="IBM Plex Sans" pitchFamily="34" charset="0"/>
                <a:ea typeface="IBM Plex Sans" pitchFamily="34" charset="-122"/>
                <a:cs typeface="IBM Plex Sans" pitchFamily="34" charset="-120"/>
              </a:rPr>
              <a:t>Each conflict with its competing items, and whether LALR merging caused it.</a:t>
            </a:r>
            <a:endParaRPr lang="en-US" sz="1200" dirty="0">
              <a:latin typeface="IBM Plex Sans" charset="0"/>
              <a:ea typeface="IBM Plex Sans" charset="0"/>
              <a:cs typeface="IBM Plex Sans" charset="0"/>
            </a:endParaRPr>
          </a:p>
        </p:txBody>
      </p:sp>
      <p:sp>
        <p:nvSpPr>
          <p:cNvPr id="12" name="Shape 8"/>
          <p:cNvSpPr/>
          <p:nvPr/>
        </p:nvSpPr>
        <p:spPr>
          <a:xfrm>
            <a:off x="7995682" y="1964055"/>
            <a:ext cx="3380343" cy="1654810"/>
          </a:xfrm>
          <a:prstGeom prst="roundRect">
            <a:avLst>
              <a:gd name="adj" fmla="val 5948"/>
            </a:avLst>
          </a:prstGeom>
          <a:solidFill>
            <a:srgbClr val="FDFEFF"/>
          </a:solidFill>
          <a:ln w="6350">
            <a:solidFill>
              <a:srgbClr val="D0D7DE"/>
            </a:solidFill>
            <a:prstDash val="solid"/>
          </a:ln>
        </p:spPr>
      </p:sp>
      <p:pic>
        <p:nvPicPr>
          <p:cNvPr id="13" name="Image 2" descr="Play">    </p:cNvPr>
          <p:cNvPicPr>
            <a:picLocks noChangeAspect="1"/>
          </p:cNvPicPr>
          <p:nvPr/>
        </p:nvPicPr>
        <p:blipFill>
          <a:blip r:embed="rId3"/>
          <a:srcRect l="0" r="0" t="0" b="0"/>
          <a:stretch/>
        </p:blipFill>
        <p:spPr>
          <a:xfrm>
            <a:off x="8251587" y="2219961"/>
            <a:ext cx="304800" cy="304800"/>
          </a:xfrm>
          <a:prstGeom prst="rect">
            <a:avLst/>
          </a:prstGeom>
        </p:spPr>
      </p:pic>
      <p:sp>
        <p:nvSpPr>
          <p:cNvPr id="14" name="Text 9"/>
          <p:cNvSpPr/>
          <p:nvPr/>
        </p:nvSpPr>
        <p:spPr>
          <a:xfrm>
            <a:off x="8251587" y="2600961"/>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328"/>
                </a:solidFill>
                <a:latin typeface="IBM Plex Sans" pitchFamily="34" charset="0"/>
                <a:ea typeface="IBM Plex Sans" pitchFamily="34" charset="-122"/>
                <a:cs typeface="IBM Plex Sans" pitchFamily="34" charset="-120"/>
              </a:rPr>
              <a:t>Step-through algorithms</a:t>
            </a:r>
            <a:endParaRPr lang="en-US" sz="1600" dirty="0">
              <a:latin typeface="IBM Plex Sans" charset="0"/>
              <a:ea typeface="IBM Plex Sans" charset="0"/>
              <a:cs typeface="IBM Plex Sans" charset="0"/>
            </a:endParaRPr>
          </a:p>
        </p:txBody>
      </p:sp>
      <p:sp>
        <p:nvSpPr>
          <p:cNvPr id="15" name="Text 10"/>
          <p:cNvSpPr/>
          <p:nvPr/>
        </p:nvSpPr>
        <p:spPr>
          <a:xfrm>
            <a:off x="8251587" y="2921000"/>
            <a:ext cx="2954589"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7606A"/>
                </a:solidFill>
                <a:latin typeface="IBM Plex Sans" pitchFamily="34" charset="0"/>
                <a:ea typeface="IBM Plex Sans" pitchFamily="34" charset="-122"/>
                <a:cs typeface="IBM Plex Sans" pitchFamily="34" charset="-120"/>
              </a:rPr>
              <a:t>Replays closure, GOTO, table insertion and the CLR → LALR merge.</a:t>
            </a:r>
            <a:endParaRPr lang="en-US" sz="1200" dirty="0">
              <a:latin typeface="IBM Plex Sans" charset="0"/>
              <a:ea typeface="IBM Plex Sans" charset="0"/>
              <a:cs typeface="IBM Plex Sans" charset="0"/>
            </a:endParaRPr>
          </a:p>
        </p:txBody>
      </p:sp>
      <p:sp>
        <p:nvSpPr>
          <p:cNvPr id="16" name="Shape 11"/>
          <p:cNvSpPr/>
          <p:nvPr/>
        </p:nvSpPr>
        <p:spPr>
          <a:xfrm>
            <a:off x="815975" y="3828416"/>
            <a:ext cx="3380264" cy="1875790"/>
          </a:xfrm>
          <a:prstGeom prst="roundRect">
            <a:avLst>
              <a:gd name="adj" fmla="val 5247"/>
            </a:avLst>
          </a:prstGeom>
          <a:solidFill>
            <a:srgbClr val="FDFEFF"/>
          </a:solidFill>
          <a:ln w="6350">
            <a:solidFill>
              <a:srgbClr val="D0D7DE"/>
            </a:solidFill>
            <a:prstDash val="solid"/>
          </a:ln>
        </p:spPr>
      </p:sp>
      <p:pic>
        <p:nvPicPr>
          <p:cNvPr id="17" name="Image 3" descr="Book">    </p:cNvPr>
          <p:cNvPicPr>
            <a:picLocks noChangeAspect="1"/>
          </p:cNvPicPr>
          <p:nvPr/>
        </p:nvPicPr>
        <p:blipFill>
          <a:blip r:embed="rId4"/>
          <a:srcRect l="0" r="0" t="0" b="0"/>
          <a:stretch/>
        </p:blipFill>
        <p:spPr>
          <a:xfrm>
            <a:off x="1071880" y="4084320"/>
            <a:ext cx="304800" cy="304800"/>
          </a:xfrm>
          <a:prstGeom prst="rect">
            <a:avLst/>
          </a:prstGeom>
        </p:spPr>
      </p:pic>
      <p:sp>
        <p:nvSpPr>
          <p:cNvPr id="18" name="Text 12"/>
          <p:cNvSpPr/>
          <p:nvPr/>
        </p:nvSpPr>
        <p:spPr>
          <a:xfrm>
            <a:off x="1071880" y="4465320"/>
            <a:ext cx="295450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328"/>
                </a:solidFill>
                <a:latin typeface="IBM Plex Sans" pitchFamily="34" charset="0"/>
                <a:ea typeface="IBM Plex Sans" pitchFamily="34" charset="-122"/>
                <a:cs typeface="IBM Plex Sans" pitchFamily="34" charset="-120"/>
              </a:rPr>
              <a:t>Concepts guide</a:t>
            </a:r>
            <a:endParaRPr lang="en-US" sz="1600" dirty="0">
              <a:latin typeface="IBM Plex Sans" charset="0"/>
              <a:ea typeface="IBM Plex Sans" charset="0"/>
              <a:cs typeface="IBM Plex Sans" charset="0"/>
            </a:endParaRPr>
          </a:p>
        </p:txBody>
      </p:sp>
      <p:sp>
        <p:nvSpPr>
          <p:cNvPr id="19" name="Text 13"/>
          <p:cNvSpPr/>
          <p:nvPr/>
        </p:nvSpPr>
        <p:spPr>
          <a:xfrm>
            <a:off x="1071880" y="4785361"/>
            <a:ext cx="2954507"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7606A"/>
                </a:solidFill>
                <a:latin typeface="IBM Plex Sans" pitchFamily="34" charset="0"/>
                <a:ea typeface="IBM Plex Sans" pitchFamily="34" charset="-122"/>
                <a:cs typeface="IBM Plex Sans" pitchFamily="34" charset="-120"/>
              </a:rPr>
              <a:t>CFGs through conflicts, with every example computed from the loaded grammar.</a:t>
            </a:r>
            <a:endParaRPr lang="en-US" sz="1200" dirty="0">
              <a:latin typeface="IBM Plex Sans" charset="0"/>
              <a:ea typeface="IBM Plex Sans" charset="0"/>
              <a:cs typeface="IBM Plex Sans" charset="0"/>
            </a:endParaRPr>
          </a:p>
        </p:txBody>
      </p:sp>
      <p:sp>
        <p:nvSpPr>
          <p:cNvPr id="20" name="Shape 14"/>
          <p:cNvSpPr/>
          <p:nvPr/>
        </p:nvSpPr>
        <p:spPr>
          <a:xfrm>
            <a:off x="4405789" y="3828416"/>
            <a:ext cx="3380343" cy="1875790"/>
          </a:xfrm>
          <a:prstGeom prst="roundRect">
            <a:avLst>
              <a:gd name="adj" fmla="val 5247"/>
            </a:avLst>
          </a:prstGeom>
          <a:solidFill>
            <a:srgbClr val="FDFEFF"/>
          </a:solidFill>
          <a:ln w="6350">
            <a:solidFill>
              <a:srgbClr val="D0D7DE"/>
            </a:solidFill>
            <a:prstDash val="solid"/>
          </a:ln>
        </p:spPr>
      </p:sp>
      <p:pic>
        <p:nvPicPr>
          <p:cNvPr id="21" name="Image 4" descr="GraduationCap">    </p:cNvPr>
          <p:cNvPicPr>
            <a:picLocks noChangeAspect="1"/>
          </p:cNvPicPr>
          <p:nvPr/>
        </p:nvPicPr>
        <p:blipFill>
          <a:blip r:embed="rId5"/>
          <a:srcRect l="0" r="0" t="0" b="0"/>
          <a:stretch/>
        </p:blipFill>
        <p:spPr>
          <a:xfrm>
            <a:off x="4661694" y="4084320"/>
            <a:ext cx="304800" cy="304800"/>
          </a:xfrm>
          <a:prstGeom prst="rect">
            <a:avLst/>
          </a:prstGeom>
        </p:spPr>
      </p:pic>
      <p:sp>
        <p:nvSpPr>
          <p:cNvPr id="22" name="Text 15"/>
          <p:cNvSpPr/>
          <p:nvPr/>
        </p:nvSpPr>
        <p:spPr>
          <a:xfrm>
            <a:off x="4661694" y="4465320"/>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328"/>
                </a:solidFill>
                <a:latin typeface="IBM Plex Sans" pitchFamily="34" charset="0"/>
                <a:ea typeface="IBM Plex Sans" pitchFamily="34" charset="-122"/>
                <a:cs typeface="IBM Plex Sans" pitchFamily="34" charset="-120"/>
              </a:rPr>
              <a:t>Built for the classroom</a:t>
            </a:r>
            <a:endParaRPr lang="en-US" sz="1600" dirty="0">
              <a:latin typeface="IBM Plex Sans" charset="0"/>
              <a:ea typeface="IBM Plex Sans" charset="0"/>
              <a:cs typeface="IBM Plex Sans" charset="0"/>
            </a:endParaRPr>
          </a:p>
        </p:txBody>
      </p:sp>
      <p:sp>
        <p:nvSpPr>
          <p:cNvPr id="23" name="Text 16"/>
          <p:cNvSpPr/>
          <p:nvPr/>
        </p:nvSpPr>
        <p:spPr>
          <a:xfrm>
            <a:off x="4661694" y="4785361"/>
            <a:ext cx="2954589"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7606A"/>
                </a:solidFill>
                <a:latin typeface="IBM Plex Sans" pitchFamily="34" charset="0"/>
                <a:ea typeface="IBM Plex Sans" pitchFamily="34" charset="-122"/>
                <a:cs typeface="IBM Plex Sans" pitchFamily="34" charset="-120"/>
              </a:rPr>
              <a:t>Light theme by default, plus Normal, Large and Projector text sizes.</a:t>
            </a:r>
            <a:endParaRPr lang="en-US" sz="1200" dirty="0">
              <a:latin typeface="IBM Plex Sans" charset="0"/>
              <a:ea typeface="IBM Plex Sans" charset="0"/>
              <a:cs typeface="IBM Plex Sans" charset="0"/>
            </a:endParaRPr>
          </a:p>
        </p:txBody>
      </p:sp>
      <p:sp>
        <p:nvSpPr>
          <p:cNvPr id="24" name="Shape 17"/>
          <p:cNvSpPr/>
          <p:nvPr/>
        </p:nvSpPr>
        <p:spPr>
          <a:xfrm>
            <a:off x="7995682" y="3828416"/>
            <a:ext cx="3380343" cy="1875790"/>
          </a:xfrm>
          <a:prstGeom prst="roundRect">
            <a:avLst>
              <a:gd name="adj" fmla="val 5247"/>
            </a:avLst>
          </a:prstGeom>
          <a:solidFill>
            <a:srgbClr val="FDFEFF"/>
          </a:solidFill>
          <a:ln w="6350">
            <a:solidFill>
              <a:srgbClr val="D0D7DE"/>
            </a:solidFill>
            <a:prstDash val="solid"/>
          </a:ln>
        </p:spPr>
      </p:sp>
      <p:pic>
        <p:nvPicPr>
          <p:cNvPr id="25" name="Image 5" descr="Link">    </p:cNvPr>
          <p:cNvPicPr>
            <a:picLocks noChangeAspect="1"/>
          </p:cNvPicPr>
          <p:nvPr/>
        </p:nvPicPr>
        <p:blipFill>
          <a:blip r:embed="rId6"/>
          <a:srcRect l="0" r="0" t="0" b="0"/>
          <a:stretch/>
        </p:blipFill>
        <p:spPr>
          <a:xfrm>
            <a:off x="8251587" y="4084320"/>
            <a:ext cx="304800" cy="304800"/>
          </a:xfrm>
          <a:prstGeom prst="rect">
            <a:avLst/>
          </a:prstGeom>
        </p:spPr>
      </p:pic>
      <p:sp>
        <p:nvSpPr>
          <p:cNvPr id="26" name="Text 18"/>
          <p:cNvSpPr/>
          <p:nvPr/>
        </p:nvSpPr>
        <p:spPr>
          <a:xfrm>
            <a:off x="8251587" y="4465320"/>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328"/>
                </a:solidFill>
                <a:latin typeface="IBM Plex Sans" pitchFamily="34" charset="0"/>
                <a:ea typeface="IBM Plex Sans" pitchFamily="34" charset="-122"/>
                <a:cs typeface="IBM Plex Sans" pitchFamily="34" charset="-120"/>
              </a:rPr>
              <a:t>Share and export</a:t>
            </a:r>
            <a:endParaRPr lang="en-US" sz="1600" dirty="0">
              <a:latin typeface="IBM Plex Sans" charset="0"/>
              <a:ea typeface="IBM Plex Sans" charset="0"/>
              <a:cs typeface="IBM Plex Sans" charset="0"/>
            </a:endParaRPr>
          </a:p>
        </p:txBody>
      </p:sp>
      <p:sp>
        <p:nvSpPr>
          <p:cNvPr id="27" name="Text 19"/>
          <p:cNvSpPr/>
          <p:nvPr/>
        </p:nvSpPr>
        <p:spPr>
          <a:xfrm>
            <a:off x="8251587" y="4785361"/>
            <a:ext cx="2954589"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7606A"/>
                </a:solidFill>
                <a:latin typeface="IBM Plex Sans" pitchFamily="34" charset="0"/>
                <a:ea typeface="IBM Plex Sans" pitchFamily="34" charset="-122"/>
                <a:cs typeface="IBM Plex Sans" pitchFamily="34" charset="-120"/>
              </a:rPr>
              <a:t>Share links, CSV and JSON tables, project files and a Markdown report.</a:t>
            </a:r>
            <a:endParaRPr lang="en-US" sz="1200" dirty="0">
              <a:latin typeface="IBM Plex Sans" charset="0"/>
              <a:ea typeface="IBM Plex Sans" charset="0"/>
              <a:cs typeface="IBM Plex Sans"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A657"/>
                </a:solidFill>
                <a:latin typeface="JetBrains Mono" pitchFamily="49" charset="0"/>
                <a:ea typeface="JetBrains Mono" pitchFamily="49" charset="-122"/>
                <a:cs typeface="JetBrains Mono" pitchFamily="49" charset="-120"/>
              </a:rPr>
              <a:t>STEP 1 · GRAMMAR</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153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E6EDF3"/>
                </a:solidFill>
                <a:latin typeface="IBM Plex Sans" pitchFamily="34" charset="0"/>
                <a:ea typeface="IBM Plex Sans" pitchFamily="34" charset="-122"/>
                <a:cs typeface="IBM Plex Sans" pitchFamily="34" charset="-120"/>
              </a:rPr>
              <a:t>Write the grammar as you would on the board</a:t>
            </a:r>
            <a:endParaRPr lang="en-US" sz="3600" dirty="0">
              <a:latin typeface="IBM Plex Sans" charset="0"/>
              <a:ea typeface="IBM Plex Sans" charset="0"/>
              <a:cs typeface="IBM Plex Sans" charset="0"/>
            </a:endParaRPr>
          </a:p>
        </p:txBody>
      </p:sp>
      <p:sp>
        <p:nvSpPr>
          <p:cNvPr id="4" name="Shape 2"/>
          <p:cNvSpPr/>
          <p:nvPr/>
        </p:nvSpPr>
        <p:spPr>
          <a:xfrm>
            <a:off x="815975" y="2014857"/>
            <a:ext cx="5073650" cy="2655570"/>
          </a:xfrm>
          <a:prstGeom prst="roundRect">
            <a:avLst>
              <a:gd name="adj" fmla="val 3706"/>
            </a:avLst>
          </a:prstGeom>
          <a:solidFill>
            <a:srgbClr val="161B22"/>
          </a:solidFill>
          <a:ln w="6350">
            <a:solidFill>
              <a:srgbClr val="30363D"/>
            </a:solidFill>
            <a:prstDash val="solid"/>
          </a:ln>
        </p:spPr>
      </p:sp>
      <p:sp>
        <p:nvSpPr>
          <p:cNvPr id="5" name="Text 3"/>
          <p:cNvSpPr/>
          <p:nvPr/>
        </p:nvSpPr>
        <p:spPr>
          <a:xfrm>
            <a:off x="1122680" y="2321561"/>
            <a:ext cx="4594047" cy="1752600"/>
          </a:xfrm>
          <a:prstGeom prst="rect">
            <a:avLst/>
          </a:prstGeom>
          <a:noFill/>
          <a:ln/>
        </p:spPr>
        <p:txBody>
          <a:bodyPr wrap="square" lIns="0" tIns="0" rIns="0" bIns="0" rtlCol="0" anchor="t">
            <a:normAutofit/>
          </a:bodyPr>
          <a:lstStyle/>
          <a:p>
            <a:pPr algn="l" indent="0" marL="0">
              <a:lnSpc>
                <a:spcPts val="2720"/>
              </a:lnSpc>
              <a:buNone/>
            </a:pPr>
            <a:r>
              <a:rPr lang="en-US" sz="1600" dirty="0">
                <a:solidFill>
                  <a:srgbClr val="9198A1"/>
                </a:solidFill>
                <a:latin typeface="JetBrains Mono" pitchFamily="49" charset="0"/>
                <a:ea typeface="JetBrains Mono" pitchFamily="49" charset="-122"/>
                <a:cs typeface="JetBrains Mono" pitchFamily="49" charset="-120"/>
              </a:rPr>
              <a:t>// Dragon book expression grammar</a:t>
            </a:r>
            <a:endParaRPr lang="en-US" sz="1600" dirty="0">
              <a:latin typeface="JetBrains Mono" charset="0"/>
              <a:ea typeface="JetBrains Mono" charset="0"/>
              <a:cs typeface="JetBrains Mono" charset="0"/>
            </a:endParaRPr>
          </a:p>
          <a:p>
            <a:pPr algn="l" indent="0" marL="0">
              <a:lnSpc>
                <a:spcPts val="2720"/>
              </a:lnSpc>
              <a:buNone/>
            </a:pPr>
            <a:r>
              <a:rPr lang="en-US" sz="1600" dirty="0">
                <a:solidFill>
                  <a:srgbClr val="79C0FF"/>
                </a:solidFill>
                <a:latin typeface="JetBrains Mono" pitchFamily="49" charset="0"/>
                <a:ea typeface="JetBrains Mono" pitchFamily="49" charset="-122"/>
                <a:cs typeface="JetBrains Mono" pitchFamily="49" charset="-120"/>
              </a:rPr>
              <a:t>E</a:t>
            </a:r>
            <a:r>
              <a:rPr lang="en-US" sz="1600" dirty="0">
                <a:solidFill>
                  <a:srgbClr val="E6EDF3"/>
                </a:solidFill>
                <a:latin typeface="JetBrains Mono" pitchFamily="49" charset="0"/>
                <a:ea typeface="JetBrains Mono" pitchFamily="49" charset="-122"/>
                <a:cs typeface="JetBrains Mono" pitchFamily="49" charset="-120"/>
              </a:rPr>
              <a:t> -&gt; </a:t>
            </a:r>
            <a:r>
              <a:rPr lang="en-US" sz="1600" dirty="0">
                <a:solidFill>
                  <a:srgbClr val="79C0FF"/>
                </a:solidFill>
                <a:latin typeface="JetBrains Mono" pitchFamily="49" charset="0"/>
                <a:ea typeface="JetBrains Mono" pitchFamily="49" charset="-122"/>
                <a:cs typeface="JetBrains Mono" pitchFamily="49" charset="-120"/>
              </a:rPr>
              <a:t>E</a:t>
            </a:r>
            <a:r>
              <a:rPr lang="en-US" sz="1600" dirty="0">
                <a:solidFill>
                  <a:srgbClr val="E6EDF3"/>
                </a:solidFill>
                <a:latin typeface="JetBrains Mono" pitchFamily="49" charset="0"/>
                <a:ea typeface="JetBrains Mono" pitchFamily="49" charset="-122"/>
                <a:cs typeface="JetBrains Mono" pitchFamily="49" charset="-120"/>
              </a:rPr>
              <a:t> </a:t>
            </a:r>
            <a:r>
              <a:rPr lang="en-US" sz="1600" dirty="0">
                <a:solidFill>
                  <a:srgbClr val="FFA657"/>
                </a:solidFill>
                <a:latin typeface="JetBrains Mono" pitchFamily="49" charset="0"/>
                <a:ea typeface="JetBrains Mono" pitchFamily="49" charset="-122"/>
                <a:cs typeface="JetBrains Mono" pitchFamily="49" charset="-120"/>
              </a:rPr>
              <a:t>+</a:t>
            </a:r>
            <a:r>
              <a:rPr lang="en-US" sz="1600" dirty="0">
                <a:solidFill>
                  <a:srgbClr val="E6EDF3"/>
                </a:solidFill>
                <a:latin typeface="JetBrains Mono" pitchFamily="49" charset="0"/>
                <a:ea typeface="JetBrains Mono" pitchFamily="49" charset="-122"/>
                <a:cs typeface="JetBrains Mono" pitchFamily="49" charset="-120"/>
              </a:rPr>
              <a:t> </a:t>
            </a:r>
            <a:r>
              <a:rPr lang="en-US" sz="1600" dirty="0">
                <a:solidFill>
                  <a:srgbClr val="79C0FF"/>
                </a:solidFill>
                <a:latin typeface="JetBrains Mono" pitchFamily="49" charset="0"/>
                <a:ea typeface="JetBrains Mono" pitchFamily="49" charset="-122"/>
                <a:cs typeface="JetBrains Mono" pitchFamily="49" charset="-120"/>
              </a:rPr>
              <a:t>T</a:t>
            </a:r>
            <a:endParaRPr lang="en-US" sz="1600" dirty="0">
              <a:latin typeface="JetBrains Mono" charset="0"/>
              <a:ea typeface="JetBrains Mono" charset="0"/>
              <a:cs typeface="JetBrains Mono" charset="0"/>
            </a:endParaRPr>
          </a:p>
          <a:p>
            <a:pPr algn="l" indent="0" marL="0">
              <a:lnSpc>
                <a:spcPts val="2720"/>
              </a:lnSpc>
              <a:buNone/>
            </a:pPr>
            <a:r>
              <a:rPr lang="en-US" sz="1600" dirty="0">
                <a:solidFill>
                  <a:srgbClr val="E6EDF3"/>
                </a:solidFill>
                <a:latin typeface="JetBrains Mono" pitchFamily="49" charset="0"/>
                <a:ea typeface="JetBrains Mono" pitchFamily="49" charset="-122"/>
                <a:cs typeface="JetBrains Mono" pitchFamily="49" charset="-120"/>
              </a:rPr>
              <a:t>  | </a:t>
            </a:r>
            <a:r>
              <a:rPr lang="en-US" sz="1600" dirty="0">
                <a:solidFill>
                  <a:srgbClr val="79C0FF"/>
                </a:solidFill>
                <a:latin typeface="JetBrains Mono" pitchFamily="49" charset="0"/>
                <a:ea typeface="JetBrains Mono" pitchFamily="49" charset="-122"/>
                <a:cs typeface="JetBrains Mono" pitchFamily="49" charset="-120"/>
              </a:rPr>
              <a:t>T</a:t>
            </a:r>
            <a:endParaRPr lang="en-US" sz="1600" dirty="0">
              <a:latin typeface="JetBrains Mono" charset="0"/>
              <a:ea typeface="JetBrains Mono" charset="0"/>
              <a:cs typeface="JetBrains Mono" charset="0"/>
            </a:endParaRPr>
          </a:p>
          <a:p>
            <a:pPr algn="l" indent="0" marL="0">
              <a:lnSpc>
                <a:spcPts val="2720"/>
              </a:lnSpc>
              <a:buNone/>
            </a:pPr>
            <a:r>
              <a:rPr lang="en-US" sz="1600" dirty="0">
                <a:solidFill>
                  <a:srgbClr val="79C0FF"/>
                </a:solidFill>
                <a:latin typeface="JetBrains Mono" pitchFamily="49" charset="0"/>
                <a:ea typeface="JetBrains Mono" pitchFamily="49" charset="-122"/>
                <a:cs typeface="JetBrains Mono" pitchFamily="49" charset="-120"/>
              </a:rPr>
              <a:t>T</a:t>
            </a:r>
            <a:r>
              <a:rPr lang="en-US" sz="1600" dirty="0">
                <a:solidFill>
                  <a:srgbClr val="E6EDF3"/>
                </a:solidFill>
                <a:latin typeface="JetBrains Mono" pitchFamily="49" charset="0"/>
                <a:ea typeface="JetBrains Mono" pitchFamily="49" charset="-122"/>
                <a:cs typeface="JetBrains Mono" pitchFamily="49" charset="-120"/>
              </a:rPr>
              <a:t> -&gt; </a:t>
            </a:r>
            <a:r>
              <a:rPr lang="en-US" sz="1600" dirty="0">
                <a:solidFill>
                  <a:srgbClr val="79C0FF"/>
                </a:solidFill>
                <a:latin typeface="JetBrains Mono" pitchFamily="49" charset="0"/>
                <a:ea typeface="JetBrains Mono" pitchFamily="49" charset="-122"/>
                <a:cs typeface="JetBrains Mono" pitchFamily="49" charset="-120"/>
              </a:rPr>
              <a:t>T</a:t>
            </a:r>
            <a:r>
              <a:rPr lang="en-US" sz="1600" dirty="0">
                <a:solidFill>
                  <a:srgbClr val="E6EDF3"/>
                </a:solidFill>
                <a:latin typeface="JetBrains Mono" pitchFamily="49" charset="0"/>
                <a:ea typeface="JetBrains Mono" pitchFamily="49" charset="-122"/>
                <a:cs typeface="JetBrains Mono" pitchFamily="49" charset="-120"/>
              </a:rPr>
              <a:t> </a:t>
            </a:r>
            <a:r>
              <a:rPr lang="en-US" sz="1600" dirty="0">
                <a:solidFill>
                  <a:srgbClr val="FFA657"/>
                </a:solidFill>
                <a:latin typeface="JetBrains Mono" pitchFamily="49" charset="0"/>
                <a:ea typeface="JetBrains Mono" pitchFamily="49" charset="-122"/>
                <a:cs typeface="JetBrains Mono" pitchFamily="49" charset="-120"/>
              </a:rPr>
              <a:t>*</a:t>
            </a:r>
            <a:r>
              <a:rPr lang="en-US" sz="1600" dirty="0">
                <a:solidFill>
                  <a:srgbClr val="E6EDF3"/>
                </a:solidFill>
                <a:latin typeface="JetBrains Mono" pitchFamily="49" charset="0"/>
                <a:ea typeface="JetBrains Mono" pitchFamily="49" charset="-122"/>
                <a:cs typeface="JetBrains Mono" pitchFamily="49" charset="-120"/>
              </a:rPr>
              <a:t> </a:t>
            </a:r>
            <a:r>
              <a:rPr lang="en-US" sz="1600" dirty="0">
                <a:solidFill>
                  <a:srgbClr val="79C0FF"/>
                </a:solidFill>
                <a:latin typeface="JetBrains Mono" pitchFamily="49" charset="0"/>
                <a:ea typeface="JetBrains Mono" pitchFamily="49" charset="-122"/>
                <a:cs typeface="JetBrains Mono" pitchFamily="49" charset="-120"/>
              </a:rPr>
              <a:t>F</a:t>
            </a:r>
            <a:r>
              <a:rPr lang="en-US" sz="1600" dirty="0">
                <a:solidFill>
                  <a:srgbClr val="E6EDF3"/>
                </a:solidFill>
                <a:latin typeface="JetBrains Mono" pitchFamily="49" charset="0"/>
                <a:ea typeface="JetBrains Mono" pitchFamily="49" charset="-122"/>
                <a:cs typeface="JetBrains Mono" pitchFamily="49" charset="-120"/>
              </a:rPr>
              <a:t> | </a:t>
            </a:r>
            <a:r>
              <a:rPr lang="en-US" sz="1600" dirty="0">
                <a:solidFill>
                  <a:srgbClr val="79C0FF"/>
                </a:solidFill>
                <a:latin typeface="JetBrains Mono" pitchFamily="49" charset="0"/>
                <a:ea typeface="JetBrains Mono" pitchFamily="49" charset="-122"/>
                <a:cs typeface="JetBrains Mono" pitchFamily="49" charset="-120"/>
              </a:rPr>
              <a:t>F</a:t>
            </a:r>
            <a:endParaRPr lang="en-US" sz="1600" dirty="0">
              <a:latin typeface="JetBrains Mono" charset="0"/>
              <a:ea typeface="JetBrains Mono" charset="0"/>
              <a:cs typeface="JetBrains Mono" charset="0"/>
            </a:endParaRPr>
          </a:p>
          <a:p>
            <a:pPr algn="l" indent="0" marL="0">
              <a:lnSpc>
                <a:spcPts val="2720"/>
              </a:lnSpc>
              <a:buNone/>
            </a:pPr>
            <a:r>
              <a:rPr lang="en-US" sz="1600" dirty="0">
                <a:solidFill>
                  <a:srgbClr val="79C0FF"/>
                </a:solidFill>
                <a:latin typeface="JetBrains Mono" pitchFamily="49" charset="0"/>
                <a:ea typeface="JetBrains Mono" pitchFamily="49" charset="-122"/>
                <a:cs typeface="JetBrains Mono" pitchFamily="49" charset="-120"/>
              </a:rPr>
              <a:t>F</a:t>
            </a:r>
            <a:r>
              <a:rPr lang="en-US" sz="1600" dirty="0">
                <a:solidFill>
                  <a:srgbClr val="E6EDF3"/>
                </a:solidFill>
                <a:latin typeface="JetBrains Mono" pitchFamily="49" charset="0"/>
                <a:ea typeface="JetBrains Mono" pitchFamily="49" charset="-122"/>
                <a:cs typeface="JetBrains Mono" pitchFamily="49" charset="-120"/>
              </a:rPr>
              <a:t> → </a:t>
            </a:r>
            <a:r>
              <a:rPr lang="en-US" sz="1600" dirty="0">
                <a:solidFill>
                  <a:srgbClr val="FFA657"/>
                </a:solidFill>
                <a:latin typeface="JetBrains Mono" pitchFamily="49" charset="0"/>
                <a:ea typeface="JetBrains Mono" pitchFamily="49" charset="-122"/>
                <a:cs typeface="JetBrains Mono" pitchFamily="49" charset="-120"/>
              </a:rPr>
              <a:t>'('</a:t>
            </a:r>
            <a:r>
              <a:rPr lang="en-US" sz="1600" dirty="0">
                <a:solidFill>
                  <a:srgbClr val="E6EDF3"/>
                </a:solidFill>
                <a:latin typeface="JetBrains Mono" pitchFamily="49" charset="0"/>
                <a:ea typeface="JetBrains Mono" pitchFamily="49" charset="-122"/>
                <a:cs typeface="JetBrains Mono" pitchFamily="49" charset="-120"/>
              </a:rPr>
              <a:t> </a:t>
            </a:r>
            <a:r>
              <a:rPr lang="en-US" sz="1600" dirty="0">
                <a:solidFill>
                  <a:srgbClr val="79C0FF"/>
                </a:solidFill>
                <a:latin typeface="JetBrains Mono" pitchFamily="49" charset="0"/>
                <a:ea typeface="JetBrains Mono" pitchFamily="49" charset="-122"/>
                <a:cs typeface="JetBrains Mono" pitchFamily="49" charset="-120"/>
              </a:rPr>
              <a:t>E</a:t>
            </a:r>
            <a:r>
              <a:rPr lang="en-US" sz="1600" dirty="0">
                <a:solidFill>
                  <a:srgbClr val="E6EDF3"/>
                </a:solidFill>
                <a:latin typeface="JetBrains Mono" pitchFamily="49" charset="0"/>
                <a:ea typeface="JetBrains Mono" pitchFamily="49" charset="-122"/>
                <a:cs typeface="JetBrains Mono" pitchFamily="49" charset="-120"/>
              </a:rPr>
              <a:t> </a:t>
            </a:r>
            <a:r>
              <a:rPr lang="en-US" sz="1600" dirty="0">
                <a:solidFill>
                  <a:srgbClr val="FFA657"/>
                </a:solidFill>
                <a:latin typeface="JetBrains Mono" pitchFamily="49" charset="0"/>
                <a:ea typeface="JetBrains Mono" pitchFamily="49" charset="-122"/>
                <a:cs typeface="JetBrains Mono" pitchFamily="49" charset="-120"/>
              </a:rPr>
              <a:t>')'</a:t>
            </a:r>
            <a:r>
              <a:rPr lang="en-US" sz="1600" dirty="0">
                <a:solidFill>
                  <a:srgbClr val="E6EDF3"/>
                </a:solidFill>
                <a:latin typeface="JetBrains Mono" pitchFamily="49" charset="0"/>
                <a:ea typeface="JetBrains Mono" pitchFamily="49" charset="-122"/>
                <a:cs typeface="JetBrains Mono" pitchFamily="49" charset="-120"/>
              </a:rPr>
              <a:t> | </a:t>
            </a:r>
            <a:r>
              <a:rPr lang="en-US" sz="1600" dirty="0">
                <a:solidFill>
                  <a:srgbClr val="FFA657"/>
                </a:solidFill>
                <a:latin typeface="JetBrains Mono" pitchFamily="49" charset="0"/>
                <a:ea typeface="JetBrains Mono" pitchFamily="49" charset="-122"/>
                <a:cs typeface="JetBrains Mono" pitchFamily="49" charset="-120"/>
              </a:rPr>
              <a:t>id</a:t>
            </a:r>
            <a:endParaRPr lang="en-US" sz="1600" dirty="0">
              <a:latin typeface="JetBrains Mono" charset="0"/>
              <a:ea typeface="JetBrains Mono" charset="0"/>
              <a:cs typeface="JetBrains Mono" charset="0"/>
            </a:endParaRPr>
          </a:p>
        </p:txBody>
      </p:sp>
      <p:sp>
        <p:nvSpPr>
          <p:cNvPr id="6" name="Text 4"/>
          <p:cNvSpPr/>
          <p:nvPr/>
        </p:nvSpPr>
        <p:spPr>
          <a:xfrm>
            <a:off x="1122680" y="4150361"/>
            <a:ext cx="45940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9C0FF"/>
                </a:solidFill>
                <a:latin typeface="JetBrains Mono" pitchFamily="49" charset="0"/>
                <a:ea typeface="JetBrains Mono" pitchFamily="49" charset="-122"/>
                <a:cs typeface="JetBrains Mono" pitchFamily="49" charset="-120"/>
              </a:rPr>
              <a:t>blue</a:t>
            </a:r>
            <a:r>
              <a:rPr lang="en-US" sz="1200" dirty="0">
                <a:solidFill>
                  <a:srgbClr val="9198A1"/>
                </a:solidFill>
                <a:latin typeface="JetBrains Mono" pitchFamily="49" charset="0"/>
                <a:ea typeface="JetBrains Mono" pitchFamily="49" charset="-122"/>
                <a:cs typeface="JetBrains Mono" pitchFamily="49" charset="-120"/>
              </a:rPr>
              <a:t> nonterminals · </a:t>
            </a:r>
            <a:r>
              <a:rPr lang="en-US" sz="1200" dirty="0">
                <a:solidFill>
                  <a:srgbClr val="FFA657"/>
                </a:solidFill>
                <a:latin typeface="JetBrains Mono" pitchFamily="49" charset="0"/>
                <a:ea typeface="JetBrains Mono" pitchFamily="49" charset="-122"/>
                <a:cs typeface="JetBrains Mono" pitchFamily="49" charset="-120"/>
              </a:rPr>
              <a:t>orange</a:t>
            </a:r>
            <a:r>
              <a:rPr lang="en-US" sz="1200" dirty="0">
                <a:solidFill>
                  <a:srgbClr val="9198A1"/>
                </a:solidFill>
                <a:latin typeface="JetBrains Mono" pitchFamily="49" charset="0"/>
                <a:ea typeface="JetBrains Mono" pitchFamily="49" charset="-122"/>
                <a:cs typeface="JetBrains Mono" pitchFamily="49" charset="-120"/>
              </a:rPr>
              <a:t> terminals</a:t>
            </a:r>
            <a:endParaRPr lang="en-US" sz="1200" dirty="0">
              <a:latin typeface="JetBrains Mono" charset="0"/>
              <a:ea typeface="JetBrains Mono" charset="0"/>
              <a:cs typeface="JetBrains Mono" charset="0"/>
            </a:endParaRPr>
          </a:p>
        </p:txBody>
      </p:sp>
      <p:sp>
        <p:nvSpPr>
          <p:cNvPr id="7" name="Shape 5"/>
          <p:cNvSpPr/>
          <p:nvPr/>
        </p:nvSpPr>
        <p:spPr>
          <a:xfrm>
            <a:off x="6299200" y="2014857"/>
            <a:ext cx="5080000" cy="0"/>
          </a:xfrm>
          <a:prstGeom prst="line">
            <a:avLst/>
          </a:prstGeom>
          <a:noFill/>
          <a:ln w="6350">
            <a:solidFill>
              <a:srgbClr val="30363D"/>
            </a:solidFill>
            <a:prstDash val="solid"/>
          </a:ln>
        </p:spPr>
      </p:sp>
      <p:sp>
        <p:nvSpPr>
          <p:cNvPr id="8" name="Text 6"/>
          <p:cNvSpPr/>
          <p:nvPr/>
        </p:nvSpPr>
        <p:spPr>
          <a:xfrm>
            <a:off x="6299200" y="2169162"/>
            <a:ext cx="5232400" cy="54102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E6EDF3"/>
                </a:solidFill>
                <a:latin typeface="IBM Plex Sans" pitchFamily="34" charset="0"/>
                <a:ea typeface="IBM Plex Sans" pitchFamily="34" charset="-122"/>
                <a:cs typeface="IBM Plex Sans" pitchFamily="34" charset="-120"/>
              </a:rPr>
              <a:t>-&gt;</a:t>
            </a:r>
            <a:r>
              <a:rPr lang="en-US" sz="1400" dirty="0">
                <a:solidFill>
                  <a:srgbClr val="BFC8D2"/>
                </a:solidFill>
                <a:latin typeface="IBM Plex Sans" pitchFamily="34" charset="0"/>
                <a:ea typeface="IBM Plex Sans" pitchFamily="34" charset="-122"/>
                <a:cs typeface="IBM Plex Sans" pitchFamily="34" charset="-120"/>
              </a:rPr>
              <a:t>, </a:t>
            </a:r>
            <a:r>
              <a:rPr lang="en-US" sz="1400" b="1" dirty="0">
                <a:solidFill>
                  <a:srgbClr val="E6EDF3"/>
                </a:solidFill>
                <a:latin typeface="IBM Plex Sans" pitchFamily="34" charset="0"/>
                <a:ea typeface="IBM Plex Sans" pitchFamily="34" charset="-122"/>
                <a:cs typeface="IBM Plex Sans" pitchFamily="34" charset="-120"/>
              </a:rPr>
              <a:t>→</a:t>
            </a:r>
            <a:r>
              <a:rPr lang="en-US" sz="1400" dirty="0">
                <a:solidFill>
                  <a:srgbClr val="BFC8D2"/>
                </a:solidFill>
                <a:latin typeface="IBM Plex Sans" pitchFamily="34" charset="0"/>
                <a:ea typeface="IBM Plex Sans" pitchFamily="34" charset="-122"/>
                <a:cs typeface="IBM Plex Sans" pitchFamily="34" charset="-120"/>
              </a:rPr>
              <a:t> and </a:t>
            </a:r>
            <a:r>
              <a:rPr lang="en-US" sz="1400" b="1" dirty="0">
                <a:solidFill>
                  <a:srgbClr val="E6EDF3"/>
                </a:solidFill>
                <a:latin typeface="IBM Plex Sans" pitchFamily="34" charset="0"/>
                <a:ea typeface="IBM Plex Sans" pitchFamily="34" charset="-122"/>
                <a:cs typeface="IBM Plex Sans" pitchFamily="34" charset="-120"/>
              </a:rPr>
              <a:t>::=</a:t>
            </a:r>
            <a:r>
              <a:rPr lang="en-US" sz="1400" dirty="0">
                <a:solidFill>
                  <a:srgbClr val="BFC8D2"/>
                </a:solidFill>
                <a:latin typeface="IBM Plex Sans" pitchFamily="34" charset="0"/>
                <a:ea typeface="IBM Plex Sans" pitchFamily="34" charset="-122"/>
                <a:cs typeface="IBM Plex Sans" pitchFamily="34" charset="-120"/>
              </a:rPr>
              <a:t> all work; a line starting with </a:t>
            </a:r>
            <a:r>
              <a:rPr lang="en-US" sz="1400" b="1" dirty="0">
                <a:solidFill>
                  <a:srgbClr val="E6EDF3"/>
                </a:solidFill>
                <a:latin typeface="IBM Plex Sans" pitchFamily="34" charset="0"/>
                <a:ea typeface="IBM Plex Sans" pitchFamily="34" charset="-122"/>
                <a:cs typeface="IBM Plex Sans" pitchFamily="34" charset="-120"/>
              </a:rPr>
              <a:t>|</a:t>
            </a:r>
            <a:r>
              <a:rPr lang="en-US" sz="1400" dirty="0">
                <a:solidFill>
                  <a:srgbClr val="BFC8D2"/>
                </a:solidFill>
                <a:latin typeface="IBM Plex Sans" pitchFamily="34" charset="0"/>
                <a:ea typeface="IBM Plex Sans" pitchFamily="34" charset="-122"/>
                <a:cs typeface="IBM Plex Sans" pitchFamily="34" charset="-120"/>
              </a:rPr>
              <a:t> continues the rule; </a:t>
            </a:r>
            <a:r>
              <a:rPr lang="en-US" sz="1400" b="1" dirty="0">
                <a:solidFill>
                  <a:srgbClr val="E6EDF3"/>
                </a:solidFill>
                <a:latin typeface="IBM Plex Sans" pitchFamily="34" charset="0"/>
                <a:ea typeface="IBM Plex Sans" pitchFamily="34" charset="-122"/>
                <a:cs typeface="IBM Plex Sans" pitchFamily="34" charset="-120"/>
              </a:rPr>
              <a:t>ε</a:t>
            </a:r>
            <a:r>
              <a:rPr lang="en-US" sz="1400" dirty="0">
                <a:solidFill>
                  <a:srgbClr val="BFC8D2"/>
                </a:solidFill>
                <a:latin typeface="IBM Plex Sans" pitchFamily="34" charset="0"/>
                <a:ea typeface="IBM Plex Sans" pitchFamily="34" charset="-122"/>
                <a:cs typeface="IBM Plex Sans" pitchFamily="34" charset="-120"/>
              </a:rPr>
              <a:t>, eps or λ is empty.</a:t>
            </a:r>
            <a:endParaRPr lang="en-US" sz="1400" dirty="0">
              <a:latin typeface="IBM Plex Sans" charset="0"/>
              <a:ea typeface="IBM Plex Sans" charset="0"/>
              <a:cs typeface="IBM Plex Sans" charset="0"/>
            </a:endParaRPr>
          </a:p>
        </p:txBody>
      </p:sp>
      <p:sp>
        <p:nvSpPr>
          <p:cNvPr id="9" name="Shape 7"/>
          <p:cNvSpPr/>
          <p:nvPr/>
        </p:nvSpPr>
        <p:spPr>
          <a:xfrm>
            <a:off x="6299200" y="2840357"/>
            <a:ext cx="5080000" cy="0"/>
          </a:xfrm>
          <a:prstGeom prst="line">
            <a:avLst/>
          </a:prstGeom>
          <a:noFill/>
          <a:ln w="6350">
            <a:solidFill>
              <a:srgbClr val="30363D"/>
            </a:solidFill>
            <a:prstDash val="solid"/>
          </a:ln>
        </p:spPr>
      </p:sp>
      <p:sp>
        <p:nvSpPr>
          <p:cNvPr id="10" name="Text 8"/>
          <p:cNvSpPr/>
          <p:nvPr/>
        </p:nvSpPr>
        <p:spPr>
          <a:xfrm>
            <a:off x="6299200" y="2994662"/>
            <a:ext cx="5232400"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FC8D2"/>
                </a:solidFill>
                <a:latin typeface="IBM Plex Sans" pitchFamily="34" charset="0"/>
                <a:ea typeface="IBM Plex Sans" pitchFamily="34" charset="-122"/>
                <a:cs typeface="IBM Plex Sans" pitchFamily="34" charset="-120"/>
              </a:rPr>
              <a:t>A symbol on the left of an arrow is a nonterminal; every other symbol is a terminal.</a:t>
            </a:r>
            <a:endParaRPr lang="en-US" sz="1400" dirty="0">
              <a:latin typeface="IBM Plex Sans" charset="0"/>
              <a:ea typeface="IBM Plex Sans" charset="0"/>
              <a:cs typeface="IBM Plex Sans" charset="0"/>
            </a:endParaRPr>
          </a:p>
        </p:txBody>
      </p:sp>
      <p:sp>
        <p:nvSpPr>
          <p:cNvPr id="11" name="Shape 9"/>
          <p:cNvSpPr/>
          <p:nvPr/>
        </p:nvSpPr>
        <p:spPr>
          <a:xfrm>
            <a:off x="6299200" y="3665857"/>
            <a:ext cx="5080000" cy="0"/>
          </a:xfrm>
          <a:prstGeom prst="line">
            <a:avLst/>
          </a:prstGeom>
          <a:noFill/>
          <a:ln w="6350">
            <a:solidFill>
              <a:srgbClr val="30363D"/>
            </a:solidFill>
            <a:prstDash val="solid"/>
          </a:ln>
        </p:spPr>
      </p:sp>
      <p:sp>
        <p:nvSpPr>
          <p:cNvPr id="12" name="Text 10"/>
          <p:cNvSpPr/>
          <p:nvPr/>
        </p:nvSpPr>
        <p:spPr>
          <a:xfrm>
            <a:off x="6299200" y="3820162"/>
            <a:ext cx="5232400"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FC8D2"/>
                </a:solidFill>
                <a:latin typeface="IBM Plex Sans" pitchFamily="34" charset="0"/>
                <a:ea typeface="IBM Plex Sans" pitchFamily="34" charset="-122"/>
                <a:cs typeface="IBM Plex Sans" pitchFamily="34" charset="-120"/>
              </a:rPr>
              <a:t>Production 0 is the augmented S′ → S, and r3 means production 3 on every page.</a:t>
            </a:r>
            <a:endParaRPr lang="en-US" sz="1400" dirty="0">
              <a:latin typeface="IBM Plex Sans" charset="0"/>
              <a:ea typeface="IBM Plex Sans" charset="0"/>
              <a:cs typeface="IBM Plex Sans" charset="0"/>
            </a:endParaRPr>
          </a:p>
        </p:txBody>
      </p:sp>
      <p:sp>
        <p:nvSpPr>
          <p:cNvPr id="13" name="Shape 11"/>
          <p:cNvSpPr/>
          <p:nvPr/>
        </p:nvSpPr>
        <p:spPr>
          <a:xfrm>
            <a:off x="6299200" y="4491357"/>
            <a:ext cx="5080000" cy="0"/>
          </a:xfrm>
          <a:prstGeom prst="line">
            <a:avLst/>
          </a:prstGeom>
          <a:noFill/>
          <a:ln w="6350">
            <a:solidFill>
              <a:srgbClr val="30363D"/>
            </a:solidFill>
            <a:prstDash val="solid"/>
          </a:ln>
        </p:spPr>
      </p:sp>
      <p:sp>
        <p:nvSpPr>
          <p:cNvPr id="14" name="Shape 12"/>
          <p:cNvSpPr/>
          <p:nvPr/>
        </p:nvSpPr>
        <p:spPr>
          <a:xfrm>
            <a:off x="6299200" y="5315587"/>
            <a:ext cx="5080000" cy="0"/>
          </a:xfrm>
          <a:prstGeom prst="line">
            <a:avLst/>
          </a:prstGeom>
          <a:noFill/>
          <a:ln w="6350">
            <a:solidFill>
              <a:srgbClr val="30363D"/>
            </a:solidFill>
            <a:prstDash val="solid"/>
          </a:ln>
        </p:spPr>
      </p:sp>
      <p:sp>
        <p:nvSpPr>
          <p:cNvPr id="15" name="Text 13"/>
          <p:cNvSpPr/>
          <p:nvPr/>
        </p:nvSpPr>
        <p:spPr>
          <a:xfrm>
            <a:off x="6299200" y="4645662"/>
            <a:ext cx="5232400"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FC8D2"/>
                </a:solidFill>
                <a:latin typeface="IBM Plex Sans" pitchFamily="34" charset="0"/>
                <a:ea typeface="IBM Plex Sans" pitchFamily="34" charset="-122"/>
                <a:cs typeface="IBM Plex Sans" pitchFamily="34" charset="-120"/>
              </a:rPr>
              <a:t>Unreachable and non-generating symbols are reported with their line.</a:t>
            </a:r>
            <a:endParaRPr lang="en-US" sz="1400" dirty="0">
              <a:latin typeface="IBM Plex Sans" charset="0"/>
              <a:ea typeface="IBM Plex Sans" charset="0"/>
              <a:cs typeface="IBM Plex Sans"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953800"/>
                </a:solidFill>
                <a:latin typeface="JetBrains Mono" pitchFamily="49" charset="0"/>
                <a:ea typeface="JetBrains Mono" pitchFamily="49" charset="-122"/>
                <a:cs typeface="JetBrains Mono" pitchFamily="49" charset="-120"/>
              </a:rPr>
              <a:t>STEPS 3–4 · AUTOMATON AND TABLE</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153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F2328"/>
                </a:solidFill>
                <a:latin typeface="IBM Plex Sans" pitchFamily="34" charset="0"/>
                <a:ea typeface="IBM Plex Sans" pitchFamily="34" charset="-122"/>
                <a:cs typeface="IBM Plex Sans" pitchFamily="34" charset="-120"/>
              </a:rPr>
              <a:t>One difference: when to reduce</a:t>
            </a:r>
            <a:endParaRPr lang="en-US" sz="3600" dirty="0">
              <a:latin typeface="IBM Plex Sans" charset="0"/>
              <a:ea typeface="IBM Plex Sans" charset="0"/>
              <a:cs typeface="IBM Plex Sans" charset="0"/>
            </a:endParaRPr>
          </a:p>
        </p:txBody>
      </p:sp>
      <p:sp>
        <p:nvSpPr>
          <p:cNvPr id="4" name="Shape 2"/>
          <p:cNvSpPr/>
          <p:nvPr/>
        </p:nvSpPr>
        <p:spPr>
          <a:xfrm>
            <a:off x="812800" y="2011682"/>
            <a:ext cx="10566400" cy="2301240"/>
          </a:xfrm>
          <a:prstGeom prst="roundRect">
            <a:avLst>
              <a:gd name="adj" fmla="val 4415"/>
            </a:avLst>
          </a:prstGeom>
          <a:solidFill>
            <a:srgbClr val="FDFEFF"/>
          </a:solidFill>
          <a:ln/>
        </p:spPr>
      </p:sp>
      <p:sp>
        <p:nvSpPr>
          <p:cNvPr id="5" name="Shape 3"/>
          <p:cNvSpPr/>
          <p:nvPr/>
        </p:nvSpPr>
        <p:spPr>
          <a:xfrm>
            <a:off x="812800" y="2011682"/>
            <a:ext cx="10566400" cy="2301240"/>
          </a:xfrm>
          <a:custGeom>
            <a:avLst/>
            <a:gdLst/>
            <a:ahLst/>
            <a:cxnLst/>
            <a:rect l="l" t="t" r="r" b="b"/>
            <a:pathLst>
              <a:path w="10566400" h="2301240">
                <a:moveTo>
                  <a:pt x="10464800" y="0"/>
                </a:moveTo>
                <a:lnTo>
                  <a:pt x="10464800" y="0"/>
                </a:lnTo>
                <a:arcTo hR="101600" wR="101600" stAng="16200000" swAng="5400000"/>
                <a:lnTo>
                  <a:pt x="10566400" y="2199640"/>
                </a:lnTo>
                <a:arcTo hR="101600" wR="101600" stAng="0" swAng="5400000"/>
                <a:lnTo>
                  <a:pt x="101600" y="2301240"/>
                </a:lnTo>
                <a:arcTo hR="101600" wR="101600" stAng="5400000" swAng="5400000"/>
                <a:lnTo>
                  <a:pt x="0" y="2199640"/>
                </a:lnTo>
                <a:arcTo hR="95250" wR="101600" stAng="10800000" swAng="-5400000"/>
                <a:lnTo>
                  <a:pt x="10464800" y="2294890"/>
                </a:lnTo>
                <a:arcTo hR="95250" wR="95250" stAng="5400000" swAng="-5400000"/>
                <a:lnTo>
                  <a:pt x="10560050" y="101600"/>
                </a:lnTo>
                <a:arcTo hR="101600" wR="95250" stAng="0" swAng="-5400000"/>
                <a:close/>
              </a:path>
            </a:pathLst>
          </a:custGeom>
          <a:solidFill>
            <a:srgbClr val="D0D7DE"/>
          </a:solidFill>
          <a:ln/>
        </p:spPr>
      </p:sp>
      <p:sp>
        <p:nvSpPr>
          <p:cNvPr id="6" name="Shape 4"/>
          <p:cNvSpPr/>
          <p:nvPr/>
        </p:nvSpPr>
        <p:spPr>
          <a:xfrm>
            <a:off x="812800" y="2011682"/>
            <a:ext cx="10566400" cy="2301240"/>
          </a:xfrm>
          <a:custGeom>
            <a:avLst/>
            <a:gdLst/>
            <a:ahLst/>
            <a:cxnLst/>
            <a:rect l="l" t="t" r="r" b="b"/>
            <a:pathLst>
              <a:path w="10566400" h="2301240">
                <a:moveTo>
                  <a:pt x="101600" y="2301240"/>
                </a:moveTo>
                <a:lnTo>
                  <a:pt x="101600" y="2301240"/>
                </a:lnTo>
                <a:arcTo hR="101600" wR="101600" stAng="5400000" swAng="5400000"/>
                <a:lnTo>
                  <a:pt x="0" y="101600"/>
                </a:lnTo>
                <a:arcTo hR="101600" wR="101600" stAng="10800000" swAng="5400000"/>
                <a:lnTo>
                  <a:pt x="10464800" y="0"/>
                </a:lnTo>
                <a:arcTo hR="101600" wR="101600" stAng="16200000" swAng="5400000"/>
                <a:lnTo>
                  <a:pt x="10566400" y="101600"/>
                </a:lnTo>
                <a:arcTo hR="91440" wR="101600" stAng="0" swAng="-5400000"/>
                <a:lnTo>
                  <a:pt x="101600" y="10160"/>
                </a:lnTo>
                <a:arcTo hR="91440" wR="91440" stAng="16200000" swAng="-5400000"/>
                <a:lnTo>
                  <a:pt x="10160" y="2199640"/>
                </a:lnTo>
                <a:arcTo hR="101600" wR="9144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00760" y="2148842"/>
          <a:ext cx="10195560" cy="2032000"/>
        </p:xfrm>
        <a:graphic>
          <a:graphicData uri="http://schemas.openxmlformats.org/drawingml/2006/table">
            <a:tbl>
              <a:tblPr/>
              <a:tblGrid>
                <a:gridCol w="1733245"/>
                <a:gridCol w="3772357"/>
                <a:gridCol w="2854757"/>
                <a:gridCol w="1835201"/>
              </a:tblGrid>
              <a:tr h="436880">
                <a:tc>
                  <a:txBody>
                    <a:bodyPr/>
                    <a:lstStyle/>
                    <a:p>
                      <a:pPr indent="0" marL="0">
                        <a:lnSpc>
                          <a:spcPts val="2240"/>
                        </a:lnSpc>
                        <a:buNone/>
                      </a:pPr>
                      <a:r>
                        <a:rPr lang="en-US" sz="1600" b="1" dirty="0">
                          <a:solidFill>
                            <a:srgbClr val="1F2328"/>
                          </a:solidFill>
                          <a:latin typeface="IBM Plex Sans" pitchFamily="34" charset="0"/>
                          <a:ea typeface="IBM Plex Sans" pitchFamily="34" charset="-122"/>
                          <a:cs typeface="IBM Plex Sans" pitchFamily="34" charset="-120"/>
                        </a:rPr>
                        <a:t>Method</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BBBEC1"/>
                      </a:solidFill>
                      <a:prstDash val="solid"/>
                      <a:round/>
                      <a:headEnd type="none" w="med" len="med"/>
                      <a:tailEnd type="none" w="med" len="med"/>
                    </a:lnR>
                    <a:lnT w="0" cap="flat" cmpd="sng" algn="ctr">
                      <a:noFill/>
                    </a:lnT>
                    <a:lnB w="12700" cap="flat" cmpd="sng" algn="ctr">
                      <a:solidFill>
                        <a:srgbClr val="BBBEC1"/>
                      </a:solidFill>
                      <a:prstDash val="solid"/>
                      <a:round/>
                      <a:headEnd type="none" w="med" len="med"/>
                      <a:tailEnd type="none" w="med" len="med"/>
                    </a:lnB>
                    <a:solidFill>
                      <a:srgbClr val="EAEEF2"/>
                    </a:solidFill>
                  </a:tcPr>
                </a:tc>
                <a:tc>
                  <a:txBody>
                    <a:bodyPr/>
                    <a:lstStyle/>
                    <a:p>
                      <a:pPr indent="0" marL="0">
                        <a:lnSpc>
                          <a:spcPts val="2240"/>
                        </a:lnSpc>
                        <a:buNone/>
                      </a:pPr>
                      <a:r>
                        <a:rPr lang="en-US" sz="1600" b="1" dirty="0">
                          <a:solidFill>
                            <a:srgbClr val="1F2328"/>
                          </a:solidFill>
                          <a:latin typeface="IBM Plex Sans" pitchFamily="34" charset="0"/>
                          <a:ea typeface="IBM Plex Sans" pitchFamily="34" charset="-122"/>
                          <a:cs typeface="IBM Plex Sans" pitchFamily="34" charset="-120"/>
                        </a:rPr>
                        <a:t>Reduces A → α· 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BBEC1"/>
                      </a:solidFill>
                      <a:prstDash val="solid"/>
                      <a:round/>
                      <a:headEnd type="none" w="med" len="med"/>
                      <a:tailEnd type="none" w="med" len="med"/>
                    </a:lnL>
                    <a:lnR w="12700" cap="flat" cmpd="sng" algn="ctr">
                      <a:solidFill>
                        <a:srgbClr val="BBBEC1"/>
                      </a:solidFill>
                      <a:prstDash val="solid"/>
                      <a:round/>
                      <a:headEnd type="none" w="med" len="med"/>
                      <a:tailEnd type="none" w="med" len="med"/>
                    </a:lnR>
                    <a:lnT w="0" cap="flat" cmpd="sng" algn="ctr">
                      <a:noFill/>
                    </a:lnT>
                    <a:lnB w="12700" cap="flat" cmpd="sng" algn="ctr">
                      <a:solidFill>
                        <a:srgbClr val="BBBEC1"/>
                      </a:solidFill>
                      <a:prstDash val="solid"/>
                      <a:round/>
                      <a:headEnd type="none" w="med" len="med"/>
                      <a:tailEnd type="none" w="med" len="med"/>
                    </a:lnB>
                    <a:solidFill>
                      <a:srgbClr val="EAEEF2"/>
                    </a:solidFill>
                  </a:tcPr>
                </a:tc>
                <a:tc>
                  <a:txBody>
                    <a:bodyPr/>
                    <a:lstStyle/>
                    <a:p>
                      <a:pPr indent="0" marL="0">
                        <a:lnSpc>
                          <a:spcPts val="2240"/>
                        </a:lnSpc>
                        <a:buNone/>
                      </a:pPr>
                      <a:r>
                        <a:rPr lang="en-US" sz="1600" b="1" dirty="0">
                          <a:solidFill>
                            <a:srgbClr val="1F2328"/>
                          </a:solidFill>
                          <a:latin typeface="IBM Plex Sans" pitchFamily="34" charset="0"/>
                          <a:ea typeface="IBM Plex Sans" pitchFamily="34" charset="-122"/>
                          <a:cs typeface="IBM Plex Sans" pitchFamily="34" charset="-120"/>
                        </a:rPr>
                        <a:t>Built from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BBEC1"/>
                      </a:solidFill>
                      <a:prstDash val="solid"/>
                      <a:round/>
                      <a:headEnd type="none" w="med" len="med"/>
                      <a:tailEnd type="none" w="med" len="med"/>
                    </a:lnL>
                    <a:lnR w="12700" cap="flat" cmpd="sng" algn="ctr">
                      <a:solidFill>
                        <a:srgbClr val="BBBEC1"/>
                      </a:solidFill>
                      <a:prstDash val="solid"/>
                      <a:round/>
                      <a:headEnd type="none" w="med" len="med"/>
                      <a:tailEnd type="none" w="med" len="med"/>
                    </a:lnR>
                    <a:lnT w="0" cap="flat" cmpd="sng" algn="ctr">
                      <a:noFill/>
                    </a:lnT>
                    <a:lnB w="12700" cap="flat" cmpd="sng" algn="ctr">
                      <a:solidFill>
                        <a:srgbClr val="BBBEC1"/>
                      </a:solidFill>
                      <a:prstDash val="solid"/>
                      <a:round/>
                      <a:headEnd type="none" w="med" len="med"/>
                      <a:tailEnd type="none" w="med" len="med"/>
                    </a:lnB>
                    <a:solidFill>
                      <a:srgbClr val="EAEEF2"/>
                    </a:solidFill>
                  </a:tcPr>
                </a:tc>
                <a:tc>
                  <a:txBody>
                    <a:bodyPr/>
                    <a:lstStyle/>
                    <a:p>
                      <a:pPr algn="r" indent="0" marL="0">
                        <a:lnSpc>
                          <a:spcPts val="2240"/>
                        </a:lnSpc>
                        <a:buNone/>
                      </a:pPr>
                      <a:r>
                        <a:rPr lang="en-US" sz="1600" b="1" dirty="0">
                          <a:solidFill>
                            <a:srgbClr val="1F2328"/>
                          </a:solidFill>
                          <a:latin typeface="IBM Plex Sans" pitchFamily="34" charset="0"/>
                          <a:ea typeface="IBM Plex Sans" pitchFamily="34" charset="-122"/>
                          <a:cs typeface="IBM Plex Sans" pitchFamily="34" charset="-120"/>
                        </a:rPr>
                        <a:t>States, S → C C</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BBEC1"/>
                      </a:solidFill>
                      <a:prstDash val="solid"/>
                      <a:round/>
                      <a:headEnd type="none" w="med" len="med"/>
                      <a:tailEnd type="none" w="med" len="med"/>
                    </a:lnL>
                    <a:lnR w="12700" cap="flat" cmpd="sng" algn="ctr">
                      <a:solidFill>
                        <a:srgbClr val="BBBEC1"/>
                      </a:solidFill>
                      <a:prstDash val="solid"/>
                      <a:round/>
                      <a:headEnd type="none" w="med" len="med"/>
                      <a:tailEnd type="none" w="med" len="med"/>
                    </a:lnR>
                    <a:lnT w="0" cap="flat" cmpd="sng" algn="ctr">
                      <a:noFill/>
                    </a:lnT>
                    <a:lnB w="12700" cap="flat" cmpd="sng" algn="ctr">
                      <a:solidFill>
                        <a:srgbClr val="BBBEC1"/>
                      </a:solidFill>
                      <a:prstDash val="solid"/>
                      <a:round/>
                      <a:headEnd type="none" w="med" len="med"/>
                      <a:tailEnd type="none" w="med" len="med"/>
                    </a:lnB>
                    <a:solidFill>
                      <a:srgbClr val="EAEEF2"/>
                    </a:solidFill>
                  </a:tcPr>
                </a:tc>
              </a:tr>
              <a:tr h="436880">
                <a:tc>
                  <a:txBody>
                    <a:bodyPr/>
                    <a:lstStyle/>
                    <a:p>
                      <a:pPr indent="0" marL="0">
                        <a:lnSpc>
                          <a:spcPts val="2240"/>
                        </a:lnSpc>
                        <a:buNone/>
                      </a:pPr>
                      <a:r>
                        <a:rPr lang="en-US" sz="1600" dirty="0">
                          <a:solidFill>
                            <a:srgbClr val="0969DA"/>
                          </a:solidFill>
                          <a:latin typeface="IBM Plex Sans" pitchFamily="34" charset="0"/>
                          <a:ea typeface="IBM Plex Sans" pitchFamily="34" charset="-122"/>
                          <a:cs typeface="IBM Plex Sans" pitchFamily="34" charset="-120"/>
                        </a:rPr>
                        <a:t>SLR(1)</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ACBCB"/>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2240"/>
                        </a:lnSpc>
                        <a:buNone/>
                      </a:pPr>
                      <a:r>
                        <a:rPr lang="en-US" sz="1600" dirty="0">
                          <a:solidFill>
                            <a:srgbClr val="1F2328"/>
                          </a:solidFill>
                          <a:latin typeface="IBM Plex Sans" pitchFamily="34" charset="0"/>
                          <a:ea typeface="IBM Plex Sans" pitchFamily="34" charset="-122"/>
                          <a:cs typeface="IBM Plex Sans" pitchFamily="34" charset="-120"/>
                        </a:rPr>
                        <a:t>every terminal in FOLLOW(A)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2240"/>
                        </a:lnSpc>
                        <a:buNone/>
                      </a:pPr>
                      <a:r>
                        <a:rPr lang="en-US" sz="1600" dirty="0">
                          <a:solidFill>
                            <a:srgbClr val="1F2328"/>
                          </a:solidFill>
                          <a:latin typeface="IBM Plex Sans" pitchFamily="34" charset="0"/>
                          <a:ea typeface="IBM Plex Sans" pitchFamily="34" charset="-122"/>
                          <a:cs typeface="IBM Plex Sans" pitchFamily="34" charset="-120"/>
                        </a:rPr>
                        <a:t>LR(0) items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algn="r" indent="0" marL="0">
                        <a:lnSpc>
                          <a:spcPts val="2240"/>
                        </a:lnSpc>
                        <a:buNone/>
                      </a:pPr>
                      <a:r>
                        <a:rPr lang="en-US" sz="1600" dirty="0">
                          <a:solidFill>
                            <a:srgbClr val="1F2328"/>
                          </a:solidFill>
                          <a:latin typeface="IBM Plex Sans" pitchFamily="34" charset="0"/>
                          <a:ea typeface="IBM Plex Sans" pitchFamily="34" charset="-122"/>
                          <a:cs typeface="IBM Plex Sans" pitchFamily="34" charset="-120"/>
                        </a:rPr>
                        <a:t>7</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r>
              <a:tr h="436880">
                <a:tc>
                  <a:txBody>
                    <a:bodyPr/>
                    <a:lstStyle/>
                    <a:p>
                      <a:pPr indent="0" marL="0">
                        <a:lnSpc>
                          <a:spcPts val="2240"/>
                        </a:lnSpc>
                        <a:buNone/>
                      </a:pPr>
                      <a:r>
                        <a:rPr lang="en-US" sz="1600" dirty="0">
                          <a:solidFill>
                            <a:srgbClr val="0969DA"/>
                          </a:solidFill>
                          <a:latin typeface="IBM Plex Sans" pitchFamily="34" charset="0"/>
                          <a:ea typeface="IBM Plex Sans" pitchFamily="34" charset="-122"/>
                          <a:cs typeface="IBM Plex Sans" pitchFamily="34" charset="-120"/>
                        </a:rPr>
                        <a:t>CLR(1)</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2240"/>
                        </a:lnSpc>
                        <a:buNone/>
                      </a:pPr>
                      <a:r>
                        <a:rPr lang="en-US" sz="1600" dirty="0">
                          <a:solidFill>
                            <a:srgbClr val="1F2328"/>
                          </a:solidFill>
                          <a:latin typeface="IBM Plex Sans" pitchFamily="34" charset="0"/>
                          <a:ea typeface="IBM Plex Sans" pitchFamily="34" charset="-122"/>
                          <a:cs typeface="IBM Plex Sans" pitchFamily="34" charset="-120"/>
                        </a:rPr>
                        <a:t>only the item’s own lookaheads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2240"/>
                        </a:lnSpc>
                        <a:buNone/>
                      </a:pPr>
                      <a:r>
                        <a:rPr lang="en-US" sz="1600" dirty="0">
                          <a:solidFill>
                            <a:srgbClr val="1F2328"/>
                          </a:solidFill>
                          <a:latin typeface="IBM Plex Sans" pitchFamily="34" charset="0"/>
                          <a:ea typeface="IBM Plex Sans" pitchFamily="34" charset="-122"/>
                          <a:cs typeface="IBM Plex Sans" pitchFamily="34" charset="-120"/>
                        </a:rPr>
                        <a:t>LR(1) items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algn="r" indent="0" marL="0">
                        <a:lnSpc>
                          <a:spcPts val="2240"/>
                        </a:lnSpc>
                        <a:buNone/>
                      </a:pPr>
                      <a:r>
                        <a:rPr lang="en-US" sz="1600" dirty="0">
                          <a:solidFill>
                            <a:srgbClr val="1F2328"/>
                          </a:solidFill>
                          <a:latin typeface="IBM Plex Sans" pitchFamily="34" charset="0"/>
                          <a:ea typeface="IBM Plex Sans" pitchFamily="34" charset="-122"/>
                          <a:cs typeface="IBM Plex Sans" pitchFamily="34" charset="-120"/>
                        </a:rPr>
                        <a:t>10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r>
              <a:tr h="721360">
                <a:tc>
                  <a:txBody>
                    <a:bodyPr/>
                    <a:lstStyle/>
                    <a:p>
                      <a:pPr indent="0" marL="0">
                        <a:lnSpc>
                          <a:spcPts val="2240"/>
                        </a:lnSpc>
                        <a:buNone/>
                      </a:pPr>
                      <a:r>
                        <a:rPr lang="en-US" sz="1600" dirty="0">
                          <a:solidFill>
                            <a:srgbClr val="0969DA"/>
                          </a:solidFill>
                          <a:latin typeface="IBM Plex Sans" pitchFamily="34" charset="0"/>
                          <a:ea typeface="IBM Plex Sans" pitchFamily="34" charset="-122"/>
                          <a:cs typeface="IBM Plex Sans" pitchFamily="34" charset="-120"/>
                        </a:rPr>
                        <a:t>LALR(1)</a:t>
                      </a:r>
                      <a:endParaRPr lang="en-US" sz="1600" dirty="0">
                        <a:latin typeface="IBM Plex Sans" charset="0"/>
                        <a:ea typeface="IBM Plex Sans" charset="0"/>
                        <a:cs typeface="IBM Plex Sans" charset="0"/>
                      </a:endParaRPr>
                    </a:p>
                  </a:txBody>
                  <a:tcPr marL="71120" marR="71120" marT="71120" marB="71120" anchor="t">
                    <a:lnL w="0" cap="flat" cmpd="sng" algn="ctr">
                      <a:noFill/>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2240"/>
                        </a:lnSpc>
                        <a:buNone/>
                      </a:pPr>
                      <a:r>
                        <a:rPr lang="en-US" sz="1600" dirty="0">
                          <a:solidFill>
                            <a:srgbClr val="1F2328"/>
                          </a:solidFill>
                          <a:latin typeface="IBM Plex Sans" pitchFamily="34" charset="0"/>
                          <a:ea typeface="IBM Plex Sans" pitchFamily="34" charset="-122"/>
                          <a:cs typeface="IBM Plex Sans" pitchFamily="34" charset="-120"/>
                        </a:rPr>
                        <a:t>lookaheads merged across states with one core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2240"/>
                        </a:lnSpc>
                        <a:buNone/>
                      </a:pPr>
                      <a:r>
                        <a:rPr lang="en-US" sz="1600" dirty="0">
                          <a:solidFill>
                            <a:srgbClr val="1F2328"/>
                          </a:solidFill>
                          <a:latin typeface="IBM Plex Sans" pitchFamily="34" charset="0"/>
                          <a:ea typeface="IBM Plex Sans" pitchFamily="34" charset="-122"/>
                          <a:cs typeface="IBM Plex Sans" pitchFamily="34" charset="-120"/>
                        </a:rPr>
                        <a:t>CLR states, merged by core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algn="r" indent="0" marL="0">
                        <a:lnSpc>
                          <a:spcPts val="2240"/>
                        </a:lnSpc>
                        <a:buNone/>
                      </a:pPr>
                      <a:r>
                        <a:rPr lang="en-US" sz="1600" dirty="0">
                          <a:solidFill>
                            <a:srgbClr val="1F2328"/>
                          </a:solidFill>
                          <a:latin typeface="IBM Plex Sans" pitchFamily="34" charset="0"/>
                          <a:ea typeface="IBM Plex Sans" pitchFamily="34" charset="-122"/>
                          <a:cs typeface="IBM Plex Sans" pitchFamily="34" charset="-120"/>
                        </a:rPr>
                        <a:t>7</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r>
            </a:tbl>
          </a:graphicData>
        </a:graphic>
      </p:graphicFrame>
      <p:sp>
        <p:nvSpPr>
          <p:cNvPr id="8" name="Text 5"/>
          <p:cNvSpPr/>
          <p:nvPr/>
        </p:nvSpPr>
        <p:spPr>
          <a:xfrm>
            <a:off x="812800" y="4668521"/>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7606A"/>
                </a:solidFill>
                <a:latin typeface="IBM Plex Sans" pitchFamily="34" charset="0"/>
                <a:ea typeface="IBM Plex Sans" pitchFamily="34" charset="-122"/>
                <a:cs typeface="IBM Plex Sans" pitchFamily="34" charset="-120"/>
              </a:rPr>
              <a:t>Every SLR(1) grammar is LALR(1), and every LALR(1) grammar is LR(1). LALR keeps the SLR state count while using real lookaheads.</a:t>
            </a:r>
            <a:endParaRPr lang="en-US" sz="1600" dirty="0">
              <a:latin typeface="IBM Plex Sans" charset="0"/>
              <a:ea typeface="IBM Plex Sans" charset="0"/>
              <a:cs typeface="IBM Plex Sans"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A657"/>
                </a:solidFill>
                <a:latin typeface="JetBrains Mono" pitchFamily="49" charset="0"/>
                <a:ea typeface="JetBrains Mono" pitchFamily="49" charset="-122"/>
                <a:cs typeface="JetBrains Mono" pitchFamily="49" charset="-120"/>
              </a:rPr>
              <a:t>LALR(1) MERGING · S → C C, C → C C | D</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153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E6EDF3"/>
                </a:solidFill>
                <a:latin typeface="IBM Plex Sans" pitchFamily="34" charset="0"/>
                <a:ea typeface="IBM Plex Sans" pitchFamily="34" charset="-122"/>
                <a:cs typeface="IBM Plex Sans" pitchFamily="34" charset="-120"/>
              </a:rPr>
              <a:t>LALR comes from CLR, not from SLR</a:t>
            </a:r>
            <a:endParaRPr lang="en-US" sz="3600" dirty="0">
              <a:latin typeface="IBM Plex Sans" charset="0"/>
              <a:ea typeface="IBM Plex Sans" charset="0"/>
              <a:cs typeface="IBM Plex Sans" charset="0"/>
            </a:endParaRPr>
          </a:p>
        </p:txBody>
      </p:sp>
      <p:sp>
        <p:nvSpPr>
          <p:cNvPr id="4" name="Text 2"/>
          <p:cNvSpPr/>
          <p:nvPr/>
        </p:nvSpPr>
        <p:spPr>
          <a:xfrm>
            <a:off x="812800" y="1960882"/>
            <a:ext cx="405511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198A1"/>
                </a:solidFill>
                <a:latin typeface="JetBrains Mono" pitchFamily="49" charset="0"/>
                <a:ea typeface="JetBrains Mono" pitchFamily="49" charset="-122"/>
                <a:cs typeface="JetBrains Mono" pitchFamily="49" charset="-120"/>
              </a:rPr>
              <a:t>CANONICAL LR(1) STATES</a:t>
            </a:r>
            <a:endParaRPr lang="en-US" sz="1200" dirty="0">
              <a:latin typeface="JetBrains Mono" charset="0"/>
              <a:ea typeface="JetBrains Mono" charset="0"/>
              <a:cs typeface="JetBrains Mono" charset="0"/>
            </a:endParaRPr>
          </a:p>
        </p:txBody>
      </p:sp>
      <p:sp>
        <p:nvSpPr>
          <p:cNvPr id="5" name="Text 3"/>
          <p:cNvSpPr/>
          <p:nvPr/>
        </p:nvSpPr>
        <p:spPr>
          <a:xfrm>
            <a:off x="5867400" y="1960882"/>
            <a:ext cx="5677154"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198A1"/>
                </a:solidFill>
                <a:latin typeface="JetBrains Mono" pitchFamily="49" charset="0"/>
                <a:ea typeface="JetBrains Mono" pitchFamily="49" charset="-122"/>
                <a:cs typeface="JetBrains Mono" pitchFamily="49" charset="-120"/>
              </a:rPr>
              <a:t>ONE LALR(1) STATE</a:t>
            </a:r>
            <a:endParaRPr lang="en-US" sz="1200" dirty="0">
              <a:latin typeface="JetBrains Mono" charset="0"/>
              <a:ea typeface="JetBrains Mono" charset="0"/>
              <a:cs typeface="JetBrains Mono" charset="0"/>
            </a:endParaRPr>
          </a:p>
        </p:txBody>
      </p:sp>
      <p:sp>
        <p:nvSpPr>
          <p:cNvPr id="6" name="Text 4"/>
          <p:cNvSpPr/>
          <p:nvPr/>
        </p:nvSpPr>
        <p:spPr>
          <a:xfrm>
            <a:off x="815975" y="2329814"/>
            <a:ext cx="3930650" cy="826770"/>
          </a:xfrm>
          <a:prstGeom prst="roundRect">
            <a:avLst>
              <a:gd name="adj" fmla="val 11905"/>
            </a:avLst>
          </a:prstGeom>
          <a:solidFill>
            <a:srgbClr val="161B22"/>
          </a:solidFill>
          <a:ln w="6350">
            <a:solidFill>
              <a:srgbClr val="30363D"/>
            </a:solidFill>
            <a:prstDash val="solid"/>
          </a:ln>
        </p:spPr>
        <p:txBody>
          <a:bodyPr wrap="square" lIns="176277" tIns="100077" rIns="70664" bIns="74677" rtlCol="0" anchor="t">
            <a:normAutofit/>
          </a:bodyPr>
          <a:lstStyle/>
          <a:p>
            <a:pPr algn="l" indent="0" marL="0">
              <a:lnSpc>
                <a:spcPts val="2240"/>
              </a:lnSpc>
              <a:buNone/>
            </a:pPr>
            <a:r>
              <a:rPr lang="en-US" sz="1400" dirty="0">
                <a:solidFill>
                  <a:srgbClr val="E6EDF3"/>
                </a:solidFill>
                <a:latin typeface="JetBrains Mono" pitchFamily="49" charset="0"/>
                <a:ea typeface="JetBrains Mono" pitchFamily="49" charset="-122"/>
                <a:cs typeface="JetBrains Mono" pitchFamily="49" charset="-120"/>
              </a:rPr>
              <a:t>I3  C → c·C  </a:t>
            </a:r>
            <a:r>
              <a:rPr lang="en-US" sz="1400" dirty="0">
                <a:solidFill>
                  <a:srgbClr val="FFA657"/>
                </a:solidFill>
                <a:latin typeface="JetBrains Mono" pitchFamily="49" charset="0"/>
                <a:ea typeface="JetBrains Mono" pitchFamily="49" charset="-122"/>
                <a:cs typeface="JetBrains Mono" pitchFamily="49" charset="-120"/>
              </a:rPr>
              <a:t>c/d</a:t>
            </a:r>
            <a:endParaRPr lang="en-US" sz="1400" dirty="0">
              <a:latin typeface="JetBrains Mono" charset="0"/>
              <a:ea typeface="JetBrains Mono" charset="0"/>
              <a:cs typeface="JetBrains Mono" charset="0"/>
            </a:endParaRPr>
          </a:p>
          <a:p>
            <a:pPr algn="l" indent="0" marL="0">
              <a:lnSpc>
                <a:spcPts val="2240"/>
              </a:lnSpc>
              <a:buNone/>
            </a:pPr>
            <a:r>
              <a:rPr lang="en-US" sz="1400" dirty="0">
                <a:solidFill>
                  <a:srgbClr val="E6EDF3"/>
                </a:solidFill>
                <a:latin typeface="JetBrains Mono" pitchFamily="49" charset="0"/>
                <a:ea typeface="JetBrains Mono" pitchFamily="49" charset="-122"/>
                <a:cs typeface="JetBrains Mono" pitchFamily="49" charset="-120"/>
              </a:rPr>
              <a:t>I6  C → c·C  </a:t>
            </a:r>
            <a:r>
              <a:rPr lang="en-US" sz="1400" dirty="0">
                <a:solidFill>
                  <a:srgbClr val="FFA657"/>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p:txBody>
      </p:sp>
      <p:pic>
        <p:nvPicPr>
          <p:cNvPr id="7" name="Image 0" descr="arrow-right">    </p:cNvPr>
          <p:cNvPicPr>
            <a:picLocks noChangeAspect="1"/>
          </p:cNvPicPr>
          <p:nvPr/>
        </p:nvPicPr>
        <p:blipFill>
          <a:blip r:embed="rId1"/>
          <a:srcRect l="0" r="0" t="0" b="0"/>
          <a:stretch/>
        </p:blipFill>
        <p:spPr>
          <a:xfrm>
            <a:off x="5003800" y="2590800"/>
            <a:ext cx="609600" cy="304800"/>
          </a:xfrm>
          <a:prstGeom prst="rect">
            <a:avLst/>
          </a:prstGeom>
        </p:spPr>
      </p:pic>
      <p:sp>
        <p:nvSpPr>
          <p:cNvPr id="8" name="Text 5"/>
          <p:cNvSpPr/>
          <p:nvPr/>
        </p:nvSpPr>
        <p:spPr>
          <a:xfrm>
            <a:off x="5873750" y="2470150"/>
            <a:ext cx="5499100" cy="546100"/>
          </a:xfrm>
          <a:prstGeom prst="roundRect">
            <a:avLst>
              <a:gd name="adj" fmla="val 17442"/>
            </a:avLst>
          </a:prstGeom>
          <a:solidFill>
            <a:srgbClr val="0C2D57"/>
          </a:solidFill>
          <a:ln w="12700">
            <a:solidFill>
              <a:srgbClr val="4493F8"/>
            </a:solidFill>
            <a:prstDash val="solid"/>
          </a:ln>
        </p:spPr>
        <p:txBody>
          <a:bodyPr wrap="square" lIns="179112" tIns="102912" rIns="26560" bIns="77512" rtlCol="0" anchor="t">
            <a:normAutofit/>
          </a:bodyPr>
          <a:lstStyle/>
          <a:p>
            <a:pPr algn="l" indent="0" marL="0">
              <a:lnSpc>
                <a:spcPts val="2240"/>
              </a:lnSpc>
              <a:buNone/>
            </a:pPr>
            <a:r>
              <a:rPr lang="en-US" sz="1400" dirty="0">
                <a:solidFill>
                  <a:srgbClr val="E6EDF3"/>
                </a:solidFill>
                <a:latin typeface="JetBrains Mono" pitchFamily="49" charset="0"/>
                <a:ea typeface="JetBrains Mono" pitchFamily="49" charset="-122"/>
                <a:cs typeface="JetBrains Mono" pitchFamily="49" charset="-120"/>
              </a:rPr>
              <a:t>I36  C → c·C  </a:t>
            </a:r>
            <a:r>
              <a:rPr lang="en-US" sz="1400" dirty="0">
                <a:solidFill>
                  <a:srgbClr val="FFA657"/>
                </a:solidFill>
                <a:latin typeface="JetBrains Mono" pitchFamily="49" charset="0"/>
                <a:ea typeface="JetBrains Mono" pitchFamily="49" charset="-122"/>
                <a:cs typeface="JetBrains Mono" pitchFamily="49" charset="-120"/>
              </a:rPr>
              <a:t>c/d/$</a:t>
            </a:r>
            <a:endParaRPr lang="en-US" sz="1400" dirty="0">
              <a:latin typeface="JetBrains Mono" charset="0"/>
              <a:ea typeface="JetBrains Mono" charset="0"/>
              <a:cs typeface="JetBrains Mono" charset="0"/>
            </a:endParaRPr>
          </a:p>
        </p:txBody>
      </p:sp>
      <p:sp>
        <p:nvSpPr>
          <p:cNvPr id="9" name="Text 6"/>
          <p:cNvSpPr/>
          <p:nvPr/>
        </p:nvSpPr>
        <p:spPr>
          <a:xfrm>
            <a:off x="815975" y="3315336"/>
            <a:ext cx="3930650" cy="826770"/>
          </a:xfrm>
          <a:prstGeom prst="roundRect">
            <a:avLst>
              <a:gd name="adj" fmla="val 11905"/>
            </a:avLst>
          </a:prstGeom>
          <a:solidFill>
            <a:srgbClr val="161B22"/>
          </a:solidFill>
          <a:ln w="6350">
            <a:solidFill>
              <a:srgbClr val="30363D"/>
            </a:solidFill>
            <a:prstDash val="solid"/>
          </a:ln>
        </p:spPr>
        <p:txBody>
          <a:bodyPr wrap="square" lIns="176277" tIns="100077" rIns="70664" bIns="74677" rtlCol="0" anchor="t">
            <a:normAutofit/>
          </a:bodyPr>
          <a:lstStyle/>
          <a:p>
            <a:pPr algn="l" indent="0" marL="0">
              <a:lnSpc>
                <a:spcPts val="2240"/>
              </a:lnSpc>
              <a:buNone/>
            </a:pPr>
            <a:r>
              <a:rPr lang="en-US" sz="1400" dirty="0">
                <a:solidFill>
                  <a:srgbClr val="E6EDF3"/>
                </a:solidFill>
                <a:latin typeface="JetBrains Mono" pitchFamily="49" charset="0"/>
                <a:ea typeface="JetBrains Mono" pitchFamily="49" charset="-122"/>
                <a:cs typeface="JetBrains Mono" pitchFamily="49" charset="-120"/>
              </a:rPr>
              <a:t>I4  C → d·  </a:t>
            </a:r>
            <a:r>
              <a:rPr lang="en-US" sz="1400" dirty="0">
                <a:solidFill>
                  <a:srgbClr val="FFA657"/>
                </a:solidFill>
                <a:latin typeface="JetBrains Mono" pitchFamily="49" charset="0"/>
                <a:ea typeface="JetBrains Mono" pitchFamily="49" charset="-122"/>
                <a:cs typeface="JetBrains Mono" pitchFamily="49" charset="-120"/>
              </a:rPr>
              <a:t>c/d</a:t>
            </a:r>
            <a:endParaRPr lang="en-US" sz="1400" dirty="0">
              <a:latin typeface="JetBrains Mono" charset="0"/>
              <a:ea typeface="JetBrains Mono" charset="0"/>
              <a:cs typeface="JetBrains Mono" charset="0"/>
            </a:endParaRPr>
          </a:p>
          <a:p>
            <a:pPr algn="l" indent="0" marL="0">
              <a:lnSpc>
                <a:spcPts val="2240"/>
              </a:lnSpc>
              <a:buNone/>
            </a:pPr>
            <a:r>
              <a:rPr lang="en-US" sz="1400" dirty="0">
                <a:solidFill>
                  <a:srgbClr val="E6EDF3"/>
                </a:solidFill>
                <a:latin typeface="JetBrains Mono" pitchFamily="49" charset="0"/>
                <a:ea typeface="JetBrains Mono" pitchFamily="49" charset="-122"/>
                <a:cs typeface="JetBrains Mono" pitchFamily="49" charset="-120"/>
              </a:rPr>
              <a:t>I7  C → d·  </a:t>
            </a:r>
            <a:r>
              <a:rPr lang="en-US" sz="1400" dirty="0">
                <a:solidFill>
                  <a:srgbClr val="FFA657"/>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p:txBody>
      </p:sp>
      <p:pic>
        <p:nvPicPr>
          <p:cNvPr id="10" name="Image 1" descr="arrow-right">    </p:cNvPr>
          <p:cNvPicPr>
            <a:picLocks noChangeAspect="1"/>
          </p:cNvPicPr>
          <p:nvPr/>
        </p:nvPicPr>
        <p:blipFill>
          <a:blip r:embed="rId2"/>
          <a:srcRect l="0" r="0" t="0" b="0"/>
          <a:stretch/>
        </p:blipFill>
        <p:spPr>
          <a:xfrm>
            <a:off x="5003800" y="3576321"/>
            <a:ext cx="609600" cy="304800"/>
          </a:xfrm>
          <a:prstGeom prst="rect">
            <a:avLst/>
          </a:prstGeom>
        </p:spPr>
      </p:pic>
      <p:sp>
        <p:nvSpPr>
          <p:cNvPr id="11" name="Text 7"/>
          <p:cNvSpPr/>
          <p:nvPr/>
        </p:nvSpPr>
        <p:spPr>
          <a:xfrm>
            <a:off x="5873750" y="3455671"/>
            <a:ext cx="5499100" cy="546100"/>
          </a:xfrm>
          <a:prstGeom prst="roundRect">
            <a:avLst>
              <a:gd name="adj" fmla="val 17442"/>
            </a:avLst>
          </a:prstGeom>
          <a:solidFill>
            <a:srgbClr val="0C2D57"/>
          </a:solidFill>
          <a:ln w="12700">
            <a:solidFill>
              <a:srgbClr val="4493F8"/>
            </a:solidFill>
            <a:prstDash val="solid"/>
          </a:ln>
        </p:spPr>
        <p:txBody>
          <a:bodyPr wrap="square" lIns="179112" tIns="102912" rIns="26560" bIns="77512" rtlCol="0" anchor="t">
            <a:normAutofit/>
          </a:bodyPr>
          <a:lstStyle/>
          <a:p>
            <a:pPr algn="l" indent="0" marL="0">
              <a:lnSpc>
                <a:spcPts val="2240"/>
              </a:lnSpc>
              <a:buNone/>
            </a:pPr>
            <a:r>
              <a:rPr lang="en-US" sz="1400" dirty="0">
                <a:solidFill>
                  <a:srgbClr val="E6EDF3"/>
                </a:solidFill>
                <a:latin typeface="JetBrains Mono" pitchFamily="49" charset="0"/>
                <a:ea typeface="JetBrains Mono" pitchFamily="49" charset="-122"/>
                <a:cs typeface="JetBrains Mono" pitchFamily="49" charset="-120"/>
              </a:rPr>
              <a:t>I47  C → d·  </a:t>
            </a:r>
            <a:r>
              <a:rPr lang="en-US" sz="1400" dirty="0">
                <a:solidFill>
                  <a:srgbClr val="FFA657"/>
                </a:solidFill>
                <a:latin typeface="JetBrains Mono" pitchFamily="49" charset="0"/>
                <a:ea typeface="JetBrains Mono" pitchFamily="49" charset="-122"/>
                <a:cs typeface="JetBrains Mono" pitchFamily="49" charset="-120"/>
              </a:rPr>
              <a:t>c/d/$</a:t>
            </a:r>
            <a:endParaRPr lang="en-US" sz="1400" dirty="0">
              <a:latin typeface="JetBrains Mono" charset="0"/>
              <a:ea typeface="JetBrains Mono" charset="0"/>
              <a:cs typeface="JetBrains Mono" charset="0"/>
            </a:endParaRPr>
          </a:p>
        </p:txBody>
      </p:sp>
      <p:sp>
        <p:nvSpPr>
          <p:cNvPr id="12" name="Text 8"/>
          <p:cNvSpPr/>
          <p:nvPr/>
        </p:nvSpPr>
        <p:spPr>
          <a:xfrm>
            <a:off x="815975" y="4300857"/>
            <a:ext cx="3930650" cy="826770"/>
          </a:xfrm>
          <a:prstGeom prst="roundRect">
            <a:avLst>
              <a:gd name="adj" fmla="val 11905"/>
            </a:avLst>
          </a:prstGeom>
          <a:solidFill>
            <a:srgbClr val="161B22"/>
          </a:solidFill>
          <a:ln w="6350">
            <a:solidFill>
              <a:srgbClr val="30363D"/>
            </a:solidFill>
            <a:prstDash val="solid"/>
          </a:ln>
        </p:spPr>
        <p:txBody>
          <a:bodyPr wrap="square" lIns="176277" tIns="100077" rIns="70664" bIns="74677" rtlCol="0" anchor="t">
            <a:normAutofit/>
          </a:bodyPr>
          <a:lstStyle/>
          <a:p>
            <a:pPr algn="l" indent="0" marL="0">
              <a:lnSpc>
                <a:spcPts val="2240"/>
              </a:lnSpc>
              <a:buNone/>
            </a:pPr>
            <a:r>
              <a:rPr lang="en-US" sz="1400" dirty="0">
                <a:solidFill>
                  <a:srgbClr val="E6EDF3"/>
                </a:solidFill>
                <a:latin typeface="JetBrains Mono" pitchFamily="49" charset="0"/>
                <a:ea typeface="JetBrains Mono" pitchFamily="49" charset="-122"/>
                <a:cs typeface="JetBrains Mono" pitchFamily="49" charset="-120"/>
              </a:rPr>
              <a:t>I8  C → cC·  </a:t>
            </a:r>
            <a:r>
              <a:rPr lang="en-US" sz="1400" dirty="0">
                <a:solidFill>
                  <a:srgbClr val="FFA657"/>
                </a:solidFill>
                <a:latin typeface="JetBrains Mono" pitchFamily="49" charset="0"/>
                <a:ea typeface="JetBrains Mono" pitchFamily="49" charset="-122"/>
                <a:cs typeface="JetBrains Mono" pitchFamily="49" charset="-120"/>
              </a:rPr>
              <a:t>c/d</a:t>
            </a:r>
            <a:endParaRPr lang="en-US" sz="1400" dirty="0">
              <a:latin typeface="JetBrains Mono" charset="0"/>
              <a:ea typeface="JetBrains Mono" charset="0"/>
              <a:cs typeface="JetBrains Mono" charset="0"/>
            </a:endParaRPr>
          </a:p>
          <a:p>
            <a:pPr algn="l" indent="0" marL="0">
              <a:lnSpc>
                <a:spcPts val="2240"/>
              </a:lnSpc>
              <a:buNone/>
            </a:pPr>
            <a:r>
              <a:rPr lang="en-US" sz="1400" dirty="0">
                <a:solidFill>
                  <a:srgbClr val="E6EDF3"/>
                </a:solidFill>
                <a:latin typeface="JetBrains Mono" pitchFamily="49" charset="0"/>
                <a:ea typeface="JetBrains Mono" pitchFamily="49" charset="-122"/>
                <a:cs typeface="JetBrains Mono" pitchFamily="49" charset="-120"/>
              </a:rPr>
              <a:t>I9  C → cC·  </a:t>
            </a:r>
            <a:r>
              <a:rPr lang="en-US" sz="1400" dirty="0">
                <a:solidFill>
                  <a:srgbClr val="FFA657"/>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p:txBody>
      </p:sp>
      <p:pic>
        <p:nvPicPr>
          <p:cNvPr id="13" name="Image 2" descr="arrow-right">    </p:cNvPr>
          <p:cNvPicPr>
            <a:picLocks noChangeAspect="1"/>
          </p:cNvPicPr>
          <p:nvPr/>
        </p:nvPicPr>
        <p:blipFill>
          <a:blip r:embed="rId3"/>
          <a:srcRect l="0" r="0" t="0" b="0"/>
          <a:stretch/>
        </p:blipFill>
        <p:spPr>
          <a:xfrm>
            <a:off x="5003800" y="4561839"/>
            <a:ext cx="609600" cy="304800"/>
          </a:xfrm>
          <a:prstGeom prst="rect">
            <a:avLst/>
          </a:prstGeom>
        </p:spPr>
      </p:pic>
      <p:sp>
        <p:nvSpPr>
          <p:cNvPr id="14" name="Text 9"/>
          <p:cNvSpPr/>
          <p:nvPr/>
        </p:nvSpPr>
        <p:spPr>
          <a:xfrm>
            <a:off x="5873750" y="4441189"/>
            <a:ext cx="5499100" cy="546100"/>
          </a:xfrm>
          <a:prstGeom prst="roundRect">
            <a:avLst>
              <a:gd name="adj" fmla="val 17442"/>
            </a:avLst>
          </a:prstGeom>
          <a:solidFill>
            <a:srgbClr val="0C2D57"/>
          </a:solidFill>
          <a:ln w="12700">
            <a:solidFill>
              <a:srgbClr val="4493F8"/>
            </a:solidFill>
            <a:prstDash val="solid"/>
          </a:ln>
        </p:spPr>
        <p:txBody>
          <a:bodyPr wrap="square" lIns="179112" tIns="102912" rIns="26560" bIns="77512" rtlCol="0" anchor="t">
            <a:normAutofit/>
          </a:bodyPr>
          <a:lstStyle/>
          <a:p>
            <a:pPr algn="l" indent="0" marL="0">
              <a:lnSpc>
                <a:spcPts val="2240"/>
              </a:lnSpc>
              <a:buNone/>
            </a:pPr>
            <a:r>
              <a:rPr lang="en-US" sz="1400" dirty="0">
                <a:solidFill>
                  <a:srgbClr val="E6EDF3"/>
                </a:solidFill>
                <a:latin typeface="JetBrains Mono" pitchFamily="49" charset="0"/>
                <a:ea typeface="JetBrains Mono" pitchFamily="49" charset="-122"/>
                <a:cs typeface="JetBrains Mono" pitchFamily="49" charset="-120"/>
              </a:rPr>
              <a:t>I89  C → cC·  </a:t>
            </a:r>
            <a:r>
              <a:rPr lang="en-US" sz="1400" dirty="0">
                <a:solidFill>
                  <a:srgbClr val="FFA657"/>
                </a:solidFill>
                <a:latin typeface="JetBrains Mono" pitchFamily="49" charset="0"/>
                <a:ea typeface="JetBrains Mono" pitchFamily="49" charset="-122"/>
                <a:cs typeface="JetBrains Mono" pitchFamily="49" charset="-120"/>
              </a:rPr>
              <a:t>c/d/$</a:t>
            </a:r>
            <a:endParaRPr lang="en-US" sz="1400" dirty="0">
              <a:latin typeface="JetBrains Mono" charset="0"/>
              <a:ea typeface="JetBrains Mono" charset="0"/>
              <a:cs typeface="JetBrains Mono" charset="0"/>
            </a:endParaRPr>
          </a:p>
        </p:txBody>
      </p:sp>
      <p:sp>
        <p:nvSpPr>
          <p:cNvPr id="15" name="Text 10"/>
          <p:cNvSpPr/>
          <p:nvPr/>
        </p:nvSpPr>
        <p:spPr>
          <a:xfrm>
            <a:off x="812800" y="5435600"/>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C8D2"/>
                </a:solidFill>
                <a:latin typeface="IBM Plex Sans" pitchFamily="34" charset="0"/>
                <a:ea typeface="IBM Plex Sans" pitchFamily="34" charset="-122"/>
                <a:cs typeface="IBM Plex Sans" pitchFamily="34" charset="-120"/>
              </a:rPr>
              <a:t>States with the same core merge and union their lookaheads: </a:t>
            </a:r>
            <a:r>
              <a:rPr lang="en-US" sz="1600" b="1" dirty="0">
                <a:solidFill>
                  <a:srgbClr val="E6EDF3"/>
                </a:solidFill>
                <a:latin typeface="IBM Plex Sans" pitchFamily="34" charset="0"/>
                <a:ea typeface="IBM Plex Sans" pitchFamily="34" charset="-122"/>
                <a:cs typeface="IBM Plex Sans" pitchFamily="34" charset="-120"/>
              </a:rPr>
              <a:t>10 CLR states become 7</a:t>
            </a:r>
            <a:r>
              <a:rPr lang="en-US" sz="1600" dirty="0">
                <a:solidFill>
                  <a:srgbClr val="BFC8D2"/>
                </a:solidFill>
                <a:latin typeface="IBM Plex Sans" pitchFamily="34" charset="0"/>
                <a:ea typeface="IBM Plex Sans" pitchFamily="34" charset="-122"/>
                <a:cs typeface="IBM Plex Sans" pitchFamily="34" charset="-120"/>
              </a:rPr>
              <a:t>, and the tests check that the merged cores match the LR(0) states.</a:t>
            </a:r>
            <a:endParaRPr lang="en-US" sz="1600" dirty="0">
              <a:latin typeface="IBM Plex Sans" charset="0"/>
              <a:ea typeface="IBM Plex Sans" charset="0"/>
              <a:cs typeface="IBM Plex Sans"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953800"/>
                </a:solidFill>
                <a:latin typeface="JetBrains Mono" pitchFamily="49" charset="0"/>
                <a:ea typeface="JetBrains Mono" pitchFamily="49" charset="-122"/>
                <a:cs typeface="JetBrains Mono" pitchFamily="49" charset="-120"/>
              </a:rPr>
              <a:t>CONFLICTS PAGE</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153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F2328"/>
                </a:solidFill>
                <a:latin typeface="IBM Plex Sans" pitchFamily="34" charset="0"/>
                <a:ea typeface="IBM Plex Sans" pitchFamily="34" charset="-122"/>
                <a:cs typeface="IBM Plex Sans" pitchFamily="34" charset="-120"/>
              </a:rPr>
              <a:t>Every conflict comes with a diagnosis</a:t>
            </a:r>
            <a:endParaRPr lang="en-US" sz="3600" dirty="0">
              <a:latin typeface="IBM Plex Sans" charset="0"/>
              <a:ea typeface="IBM Plex Sans" charset="0"/>
              <a:cs typeface="IBM Plex Sans" charset="0"/>
            </a:endParaRPr>
          </a:p>
        </p:txBody>
      </p:sp>
      <p:sp>
        <p:nvSpPr>
          <p:cNvPr id="4" name="Shape 2"/>
          <p:cNvSpPr/>
          <p:nvPr/>
        </p:nvSpPr>
        <p:spPr>
          <a:xfrm>
            <a:off x="815975" y="1913257"/>
            <a:ext cx="5175250" cy="2927350"/>
          </a:xfrm>
          <a:prstGeom prst="roundRect">
            <a:avLst>
              <a:gd name="adj" fmla="val 3362"/>
            </a:avLst>
          </a:prstGeom>
          <a:solidFill>
            <a:srgbClr val="FDFEFF"/>
          </a:solidFill>
          <a:ln w="6350">
            <a:solidFill>
              <a:srgbClr val="D0D7DE"/>
            </a:solidFill>
            <a:prstDash val="solid"/>
          </a:ln>
        </p:spPr>
      </p:sp>
      <p:sp>
        <p:nvSpPr>
          <p:cNvPr id="5" name="Text 3"/>
          <p:cNvSpPr/>
          <p:nvPr/>
        </p:nvSpPr>
        <p:spPr>
          <a:xfrm>
            <a:off x="1071880" y="2143761"/>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7606A"/>
                </a:solidFill>
                <a:latin typeface="IBM Plex Sans" pitchFamily="34" charset="0"/>
                <a:ea typeface="IBM Plex Sans" pitchFamily="34" charset="-122"/>
                <a:cs typeface="IBM Plex Sans" pitchFamily="34" charset="-120"/>
              </a:rPr>
              <a:t>NEEDS MORE LOOKAHEAD</a:t>
            </a:r>
            <a:endParaRPr lang="en-US" sz="1200" dirty="0">
              <a:latin typeface="IBM Plex Sans" charset="0"/>
              <a:ea typeface="IBM Plex Sans" charset="0"/>
              <a:cs typeface="IBM Plex Sans" charset="0"/>
            </a:endParaRPr>
          </a:p>
        </p:txBody>
      </p:sp>
      <p:sp>
        <p:nvSpPr>
          <p:cNvPr id="6" name="Text 4"/>
          <p:cNvSpPr/>
          <p:nvPr/>
        </p:nvSpPr>
        <p:spPr>
          <a:xfrm>
            <a:off x="1071880" y="2458721"/>
            <a:ext cx="4803343"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F2328"/>
                </a:solidFill>
                <a:latin typeface="JetBrains Mono" pitchFamily="49" charset="0"/>
                <a:ea typeface="JetBrains Mono" pitchFamily="49" charset="-122"/>
                <a:cs typeface="JetBrains Mono" pitchFamily="49" charset="-120"/>
              </a:rPr>
              <a:t>S → L = R | R</a:t>
            </a:r>
            <a:endParaRPr lang="en-US" sz="1400" dirty="0">
              <a:latin typeface="JetBrains Mono" charset="0"/>
              <a:ea typeface="JetBrains Mono" charset="0"/>
              <a:cs typeface="JetBrains Mono" charset="0"/>
            </a:endParaRPr>
          </a:p>
          <a:p>
            <a:pPr algn="l" indent="0" marL="0">
              <a:lnSpc>
                <a:spcPts val="2100"/>
              </a:lnSpc>
              <a:buNone/>
            </a:pPr>
            <a:r>
              <a:rPr lang="en-US" sz="1400" dirty="0">
                <a:solidFill>
                  <a:srgbClr val="1F2328"/>
                </a:solidFill>
                <a:latin typeface="JetBrains Mono" pitchFamily="49" charset="0"/>
                <a:ea typeface="JetBrains Mono" pitchFamily="49" charset="-122"/>
                <a:cs typeface="JetBrains Mono" pitchFamily="49" charset="-120"/>
              </a:rPr>
              <a:t>L → * R | id</a:t>
            </a:r>
            <a:endParaRPr lang="en-US" sz="1400" dirty="0">
              <a:latin typeface="JetBrains Mono" charset="0"/>
              <a:ea typeface="JetBrains Mono" charset="0"/>
              <a:cs typeface="JetBrains Mono" charset="0"/>
            </a:endParaRPr>
          </a:p>
          <a:p>
            <a:pPr algn="l" indent="0" marL="0">
              <a:lnSpc>
                <a:spcPts val="2100"/>
              </a:lnSpc>
              <a:buNone/>
            </a:pPr>
            <a:r>
              <a:rPr lang="en-US" sz="1400" dirty="0">
                <a:solidFill>
                  <a:srgbClr val="1F2328"/>
                </a:solidFill>
                <a:latin typeface="JetBrains Mono" pitchFamily="49" charset="0"/>
                <a:ea typeface="JetBrains Mono" pitchFamily="49" charset="-122"/>
                <a:cs typeface="JetBrains Mono" pitchFamily="49" charset="-120"/>
              </a:rPr>
              <a:t>R → L</a:t>
            </a:r>
            <a:endParaRPr lang="en-US" sz="1400" dirty="0">
              <a:latin typeface="JetBrains Mono" charset="0"/>
              <a:ea typeface="JetBrains Mono" charset="0"/>
              <a:cs typeface="JetBrains Mono" charset="0"/>
            </a:endParaRPr>
          </a:p>
        </p:txBody>
      </p:sp>
      <p:sp>
        <p:nvSpPr>
          <p:cNvPr id="7" name="Shape 5"/>
          <p:cNvSpPr/>
          <p:nvPr/>
        </p:nvSpPr>
        <p:spPr>
          <a:xfrm>
            <a:off x="1071880" y="3363596"/>
            <a:ext cx="4663440" cy="0"/>
          </a:xfrm>
          <a:prstGeom prst="line">
            <a:avLst/>
          </a:prstGeom>
          <a:noFill/>
          <a:ln w="6350">
            <a:solidFill>
              <a:srgbClr val="D0D7DE"/>
            </a:solidFill>
            <a:prstDash val="solid"/>
          </a:ln>
        </p:spPr>
      </p:sp>
      <p:sp>
        <p:nvSpPr>
          <p:cNvPr id="8" name="Text 6"/>
          <p:cNvSpPr/>
          <p:nvPr/>
        </p:nvSpPr>
        <p:spPr>
          <a:xfrm>
            <a:off x="1071880" y="3429000"/>
            <a:ext cx="1066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969DA"/>
                </a:solidFill>
                <a:latin typeface="JetBrains Mono" pitchFamily="49" charset="0"/>
                <a:ea typeface="JetBrains Mono" pitchFamily="49" charset="-122"/>
                <a:cs typeface="JetBrains Mono" pitchFamily="49" charset="-120"/>
              </a:rPr>
              <a:t>SLR(1)</a:t>
            </a:r>
            <a:endParaRPr lang="en-US" sz="1200" dirty="0">
              <a:latin typeface="JetBrains Mono" charset="0"/>
              <a:ea typeface="JetBrains Mono" charset="0"/>
              <a:cs typeface="JetBrains Mono" charset="0"/>
            </a:endParaRPr>
          </a:p>
        </p:txBody>
      </p:sp>
      <p:sp>
        <p:nvSpPr>
          <p:cNvPr id="9" name="Text 7"/>
          <p:cNvSpPr/>
          <p:nvPr/>
        </p:nvSpPr>
        <p:spPr>
          <a:xfrm>
            <a:off x="2240280" y="3429000"/>
            <a:ext cx="359989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53800"/>
                </a:solidFill>
                <a:latin typeface="IBM Plex Sans" pitchFamily="34" charset="0"/>
                <a:ea typeface="IBM Plex Sans" pitchFamily="34" charset="-122"/>
                <a:cs typeface="IBM Plex Sans" pitchFamily="34" charset="-120"/>
              </a:rPr>
              <a:t>Conflict:</a:t>
            </a:r>
            <a:r>
              <a:rPr lang="en-US" sz="1200" dirty="0">
                <a:solidFill>
                  <a:srgbClr val="953800"/>
                </a:solidFill>
                <a:latin typeface="IBM Plex Sans" pitchFamily="34" charset="0"/>
                <a:ea typeface="IBM Plex Sans" pitchFamily="34" charset="-122"/>
                <a:cs typeface="IBM Plex Sans" pitchFamily="34" charset="-120"/>
              </a:rPr>
              <a:t> shift/reduce on =</a:t>
            </a:r>
            <a:endParaRPr lang="en-US" sz="1200" dirty="0">
              <a:latin typeface="IBM Plex Sans" charset="0"/>
              <a:ea typeface="IBM Plex Sans" charset="0"/>
              <a:cs typeface="IBM Plex Sans" charset="0"/>
            </a:endParaRPr>
          </a:p>
        </p:txBody>
      </p:sp>
      <p:sp>
        <p:nvSpPr>
          <p:cNvPr id="10" name="Shape 8"/>
          <p:cNvSpPr/>
          <p:nvPr/>
        </p:nvSpPr>
        <p:spPr>
          <a:xfrm>
            <a:off x="1071880" y="3709036"/>
            <a:ext cx="4663440" cy="0"/>
          </a:xfrm>
          <a:prstGeom prst="line">
            <a:avLst/>
          </a:prstGeom>
          <a:noFill/>
          <a:ln w="6350">
            <a:solidFill>
              <a:srgbClr val="D0D7DE"/>
            </a:solidFill>
            <a:prstDash val="solid"/>
          </a:ln>
        </p:spPr>
      </p:sp>
      <p:sp>
        <p:nvSpPr>
          <p:cNvPr id="11" name="Text 9"/>
          <p:cNvSpPr/>
          <p:nvPr/>
        </p:nvSpPr>
        <p:spPr>
          <a:xfrm>
            <a:off x="1071880" y="3774439"/>
            <a:ext cx="1066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969DA"/>
                </a:solidFill>
                <a:latin typeface="JetBrains Mono" pitchFamily="49" charset="0"/>
                <a:ea typeface="JetBrains Mono" pitchFamily="49" charset="-122"/>
                <a:cs typeface="JetBrains Mono" pitchFamily="49" charset="-120"/>
              </a:rPr>
              <a:t>LR(1)</a:t>
            </a:r>
            <a:endParaRPr lang="en-US" sz="1200" dirty="0">
              <a:latin typeface="JetBrains Mono" charset="0"/>
              <a:ea typeface="JetBrains Mono" charset="0"/>
              <a:cs typeface="JetBrains Mono" charset="0"/>
            </a:endParaRPr>
          </a:p>
        </p:txBody>
      </p:sp>
      <p:sp>
        <p:nvSpPr>
          <p:cNvPr id="12" name="Text 10"/>
          <p:cNvSpPr/>
          <p:nvPr/>
        </p:nvSpPr>
        <p:spPr>
          <a:xfrm>
            <a:off x="2240280" y="3774439"/>
            <a:ext cx="359989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7F37"/>
                </a:solidFill>
                <a:latin typeface="IBM Plex Sans" pitchFamily="34" charset="0"/>
                <a:ea typeface="IBM Plex Sans" pitchFamily="34" charset="-122"/>
                <a:cs typeface="IBM Plex Sans" pitchFamily="34" charset="-120"/>
              </a:rPr>
              <a:t>Conflict-free, 14 states</a:t>
            </a:r>
            <a:endParaRPr lang="en-US" sz="1200" dirty="0">
              <a:latin typeface="IBM Plex Sans" charset="0"/>
              <a:ea typeface="IBM Plex Sans" charset="0"/>
              <a:cs typeface="IBM Plex Sans" charset="0"/>
            </a:endParaRPr>
          </a:p>
        </p:txBody>
      </p:sp>
      <p:sp>
        <p:nvSpPr>
          <p:cNvPr id="13" name="Shape 11"/>
          <p:cNvSpPr/>
          <p:nvPr/>
        </p:nvSpPr>
        <p:spPr>
          <a:xfrm>
            <a:off x="1071880" y="4054475"/>
            <a:ext cx="4663440" cy="0"/>
          </a:xfrm>
          <a:prstGeom prst="line">
            <a:avLst/>
          </a:prstGeom>
          <a:noFill/>
          <a:ln w="6350">
            <a:solidFill>
              <a:srgbClr val="D0D7DE"/>
            </a:solidFill>
            <a:prstDash val="solid"/>
          </a:ln>
        </p:spPr>
      </p:sp>
      <p:sp>
        <p:nvSpPr>
          <p:cNvPr id="14" name="Text 12"/>
          <p:cNvSpPr/>
          <p:nvPr/>
        </p:nvSpPr>
        <p:spPr>
          <a:xfrm>
            <a:off x="1071880" y="4119879"/>
            <a:ext cx="1066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969DA"/>
                </a:solidFill>
                <a:latin typeface="JetBrains Mono" pitchFamily="49" charset="0"/>
                <a:ea typeface="JetBrains Mono" pitchFamily="49" charset="-122"/>
                <a:cs typeface="JetBrains Mono" pitchFamily="49" charset="-120"/>
              </a:rPr>
              <a:t>LALR(1)</a:t>
            </a:r>
            <a:endParaRPr lang="en-US" sz="1200" dirty="0">
              <a:latin typeface="JetBrains Mono" charset="0"/>
              <a:ea typeface="JetBrains Mono" charset="0"/>
              <a:cs typeface="JetBrains Mono" charset="0"/>
            </a:endParaRPr>
          </a:p>
        </p:txBody>
      </p:sp>
      <p:sp>
        <p:nvSpPr>
          <p:cNvPr id="15" name="Text 13"/>
          <p:cNvSpPr/>
          <p:nvPr/>
        </p:nvSpPr>
        <p:spPr>
          <a:xfrm>
            <a:off x="2240280" y="4119879"/>
            <a:ext cx="359989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7F37"/>
                </a:solidFill>
                <a:latin typeface="IBM Plex Sans" pitchFamily="34" charset="0"/>
                <a:ea typeface="IBM Plex Sans" pitchFamily="34" charset="-122"/>
                <a:cs typeface="IBM Plex Sans" pitchFamily="34" charset="-120"/>
              </a:rPr>
              <a:t>Conflict-free, 10 states</a:t>
            </a:r>
            <a:endParaRPr lang="en-US" sz="1200" dirty="0">
              <a:latin typeface="IBM Plex Sans" charset="0"/>
              <a:ea typeface="IBM Plex Sans" charset="0"/>
              <a:cs typeface="IBM Plex Sans" charset="0"/>
            </a:endParaRPr>
          </a:p>
        </p:txBody>
      </p:sp>
      <p:sp>
        <p:nvSpPr>
          <p:cNvPr id="16" name="Shape 14"/>
          <p:cNvSpPr/>
          <p:nvPr/>
        </p:nvSpPr>
        <p:spPr>
          <a:xfrm>
            <a:off x="6200775" y="1913257"/>
            <a:ext cx="5175250" cy="2927350"/>
          </a:xfrm>
          <a:prstGeom prst="roundRect">
            <a:avLst>
              <a:gd name="adj" fmla="val 3362"/>
            </a:avLst>
          </a:prstGeom>
          <a:solidFill>
            <a:srgbClr val="FDFEFF"/>
          </a:solidFill>
          <a:ln w="6350">
            <a:solidFill>
              <a:srgbClr val="D0D7DE"/>
            </a:solidFill>
            <a:prstDash val="solid"/>
          </a:ln>
        </p:spPr>
      </p:sp>
      <p:sp>
        <p:nvSpPr>
          <p:cNvPr id="17" name="Text 15"/>
          <p:cNvSpPr/>
          <p:nvPr/>
        </p:nvSpPr>
        <p:spPr>
          <a:xfrm>
            <a:off x="6456680" y="2143761"/>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7606A"/>
                </a:solidFill>
                <a:latin typeface="IBM Plex Sans" pitchFamily="34" charset="0"/>
                <a:ea typeface="IBM Plex Sans" pitchFamily="34" charset="-122"/>
                <a:cs typeface="IBM Plex Sans" pitchFamily="34" charset="-120"/>
              </a:rPr>
              <a:t>INTRODUCED BY MERGING</a:t>
            </a:r>
            <a:endParaRPr lang="en-US" sz="1200" dirty="0">
              <a:latin typeface="IBM Plex Sans" charset="0"/>
              <a:ea typeface="IBM Plex Sans" charset="0"/>
              <a:cs typeface="IBM Plex Sans" charset="0"/>
            </a:endParaRPr>
          </a:p>
        </p:txBody>
      </p:sp>
      <p:sp>
        <p:nvSpPr>
          <p:cNvPr id="18" name="Text 16"/>
          <p:cNvSpPr/>
          <p:nvPr/>
        </p:nvSpPr>
        <p:spPr>
          <a:xfrm>
            <a:off x="6456680" y="2458721"/>
            <a:ext cx="4803343"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F2328"/>
                </a:solidFill>
                <a:latin typeface="JetBrains Mono" pitchFamily="49" charset="0"/>
                <a:ea typeface="JetBrains Mono" pitchFamily="49" charset="-122"/>
                <a:cs typeface="JetBrains Mono" pitchFamily="49" charset="-120"/>
              </a:rPr>
              <a:t>S → a A d | b B d | a B e | b A e</a:t>
            </a:r>
            <a:endParaRPr lang="en-US" sz="1400" dirty="0">
              <a:latin typeface="JetBrains Mono" charset="0"/>
              <a:ea typeface="JetBrains Mono" charset="0"/>
              <a:cs typeface="JetBrains Mono" charset="0"/>
            </a:endParaRPr>
          </a:p>
          <a:p>
            <a:pPr algn="l" indent="0" marL="0">
              <a:lnSpc>
                <a:spcPts val="2100"/>
              </a:lnSpc>
              <a:buNone/>
            </a:pPr>
            <a:r>
              <a:rPr lang="en-US" sz="1400" dirty="0">
                <a:solidFill>
                  <a:srgbClr val="1F2328"/>
                </a:solidFill>
                <a:latin typeface="JetBrains Mono" pitchFamily="49" charset="0"/>
                <a:ea typeface="JetBrains Mono" pitchFamily="49" charset="-122"/>
                <a:cs typeface="JetBrains Mono" pitchFamily="49" charset="-120"/>
              </a:rPr>
              <a:t>A → c</a:t>
            </a:r>
            <a:endParaRPr lang="en-US" sz="1400" dirty="0">
              <a:latin typeface="JetBrains Mono" charset="0"/>
              <a:ea typeface="JetBrains Mono" charset="0"/>
              <a:cs typeface="JetBrains Mono" charset="0"/>
            </a:endParaRPr>
          </a:p>
          <a:p>
            <a:pPr algn="l" indent="0" marL="0">
              <a:lnSpc>
                <a:spcPts val="2100"/>
              </a:lnSpc>
              <a:buNone/>
            </a:pPr>
            <a:r>
              <a:rPr lang="en-US" sz="1400" dirty="0">
                <a:solidFill>
                  <a:srgbClr val="1F2328"/>
                </a:solidFill>
                <a:latin typeface="JetBrains Mono" pitchFamily="49" charset="0"/>
                <a:ea typeface="JetBrains Mono" pitchFamily="49" charset="-122"/>
                <a:cs typeface="JetBrains Mono" pitchFamily="49" charset="-120"/>
              </a:rPr>
              <a:t>B → c</a:t>
            </a:r>
            <a:endParaRPr lang="en-US" sz="1400" dirty="0">
              <a:latin typeface="JetBrains Mono" charset="0"/>
              <a:ea typeface="JetBrains Mono" charset="0"/>
              <a:cs typeface="JetBrains Mono" charset="0"/>
            </a:endParaRPr>
          </a:p>
        </p:txBody>
      </p:sp>
      <p:sp>
        <p:nvSpPr>
          <p:cNvPr id="19" name="Shape 17"/>
          <p:cNvSpPr/>
          <p:nvPr/>
        </p:nvSpPr>
        <p:spPr>
          <a:xfrm>
            <a:off x="6456680" y="3363596"/>
            <a:ext cx="4663440" cy="0"/>
          </a:xfrm>
          <a:prstGeom prst="line">
            <a:avLst/>
          </a:prstGeom>
          <a:noFill/>
          <a:ln w="6350">
            <a:solidFill>
              <a:srgbClr val="D0D7DE"/>
            </a:solidFill>
            <a:prstDash val="solid"/>
          </a:ln>
        </p:spPr>
      </p:sp>
      <p:sp>
        <p:nvSpPr>
          <p:cNvPr id="20" name="Text 18"/>
          <p:cNvSpPr/>
          <p:nvPr/>
        </p:nvSpPr>
        <p:spPr>
          <a:xfrm>
            <a:off x="6456680" y="3429000"/>
            <a:ext cx="1066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969DA"/>
                </a:solidFill>
                <a:latin typeface="JetBrains Mono" pitchFamily="49" charset="0"/>
                <a:ea typeface="JetBrains Mono" pitchFamily="49" charset="-122"/>
                <a:cs typeface="JetBrains Mono" pitchFamily="49" charset="-120"/>
              </a:rPr>
              <a:t>SLR(1)</a:t>
            </a:r>
            <a:endParaRPr lang="en-US" sz="1200" dirty="0">
              <a:latin typeface="JetBrains Mono" charset="0"/>
              <a:ea typeface="JetBrains Mono" charset="0"/>
              <a:cs typeface="JetBrains Mono" charset="0"/>
            </a:endParaRPr>
          </a:p>
        </p:txBody>
      </p:sp>
      <p:sp>
        <p:nvSpPr>
          <p:cNvPr id="21" name="Text 19"/>
          <p:cNvSpPr/>
          <p:nvPr/>
        </p:nvSpPr>
        <p:spPr>
          <a:xfrm>
            <a:off x="7625080" y="3429000"/>
            <a:ext cx="359989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53800"/>
                </a:solidFill>
                <a:latin typeface="IBM Plex Sans" pitchFamily="34" charset="0"/>
                <a:ea typeface="IBM Plex Sans" pitchFamily="34" charset="-122"/>
                <a:cs typeface="IBM Plex Sans" pitchFamily="34" charset="-120"/>
              </a:rPr>
              <a:t>Conflict:</a:t>
            </a:r>
            <a:r>
              <a:rPr lang="en-US" sz="1200" dirty="0">
                <a:solidFill>
                  <a:srgbClr val="953800"/>
                </a:solidFill>
                <a:latin typeface="IBM Plex Sans" pitchFamily="34" charset="0"/>
                <a:ea typeface="IBM Plex Sans" pitchFamily="34" charset="-122"/>
                <a:cs typeface="IBM Plex Sans" pitchFamily="34" charset="-120"/>
              </a:rPr>
              <a:t> reduce/reduce on d, e</a:t>
            </a:r>
            <a:endParaRPr lang="en-US" sz="1200" dirty="0">
              <a:latin typeface="IBM Plex Sans" charset="0"/>
              <a:ea typeface="IBM Plex Sans" charset="0"/>
              <a:cs typeface="IBM Plex Sans" charset="0"/>
            </a:endParaRPr>
          </a:p>
        </p:txBody>
      </p:sp>
      <p:sp>
        <p:nvSpPr>
          <p:cNvPr id="22" name="Shape 20"/>
          <p:cNvSpPr/>
          <p:nvPr/>
        </p:nvSpPr>
        <p:spPr>
          <a:xfrm>
            <a:off x="6456680" y="3709036"/>
            <a:ext cx="4663440" cy="0"/>
          </a:xfrm>
          <a:prstGeom prst="line">
            <a:avLst/>
          </a:prstGeom>
          <a:noFill/>
          <a:ln w="6350">
            <a:solidFill>
              <a:srgbClr val="D0D7DE"/>
            </a:solidFill>
            <a:prstDash val="solid"/>
          </a:ln>
        </p:spPr>
      </p:sp>
      <p:sp>
        <p:nvSpPr>
          <p:cNvPr id="23" name="Text 21"/>
          <p:cNvSpPr/>
          <p:nvPr/>
        </p:nvSpPr>
        <p:spPr>
          <a:xfrm>
            <a:off x="6456680" y="3774439"/>
            <a:ext cx="1066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969DA"/>
                </a:solidFill>
                <a:latin typeface="JetBrains Mono" pitchFamily="49" charset="0"/>
                <a:ea typeface="JetBrains Mono" pitchFamily="49" charset="-122"/>
                <a:cs typeface="JetBrains Mono" pitchFamily="49" charset="-120"/>
              </a:rPr>
              <a:t>LR(1)</a:t>
            </a:r>
            <a:endParaRPr lang="en-US" sz="1200" dirty="0">
              <a:latin typeface="JetBrains Mono" charset="0"/>
              <a:ea typeface="JetBrains Mono" charset="0"/>
              <a:cs typeface="JetBrains Mono" charset="0"/>
            </a:endParaRPr>
          </a:p>
        </p:txBody>
      </p:sp>
      <p:sp>
        <p:nvSpPr>
          <p:cNvPr id="24" name="Text 22"/>
          <p:cNvSpPr/>
          <p:nvPr/>
        </p:nvSpPr>
        <p:spPr>
          <a:xfrm>
            <a:off x="7625080" y="3774439"/>
            <a:ext cx="359989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7F37"/>
                </a:solidFill>
                <a:latin typeface="IBM Plex Sans" pitchFamily="34" charset="0"/>
                <a:ea typeface="IBM Plex Sans" pitchFamily="34" charset="-122"/>
                <a:cs typeface="IBM Plex Sans" pitchFamily="34" charset="-120"/>
              </a:rPr>
              <a:t>Conflict-free</a:t>
            </a:r>
            <a:endParaRPr lang="en-US" sz="1200" dirty="0">
              <a:latin typeface="IBM Plex Sans" charset="0"/>
              <a:ea typeface="IBM Plex Sans" charset="0"/>
              <a:cs typeface="IBM Plex Sans" charset="0"/>
            </a:endParaRPr>
          </a:p>
        </p:txBody>
      </p:sp>
      <p:sp>
        <p:nvSpPr>
          <p:cNvPr id="25" name="Shape 23"/>
          <p:cNvSpPr/>
          <p:nvPr/>
        </p:nvSpPr>
        <p:spPr>
          <a:xfrm>
            <a:off x="6456680" y="4054475"/>
            <a:ext cx="4663440" cy="0"/>
          </a:xfrm>
          <a:prstGeom prst="line">
            <a:avLst/>
          </a:prstGeom>
          <a:noFill/>
          <a:ln w="6350">
            <a:solidFill>
              <a:srgbClr val="D0D7DE"/>
            </a:solidFill>
            <a:prstDash val="solid"/>
          </a:ln>
        </p:spPr>
      </p:sp>
      <p:sp>
        <p:nvSpPr>
          <p:cNvPr id="26" name="Text 24"/>
          <p:cNvSpPr/>
          <p:nvPr/>
        </p:nvSpPr>
        <p:spPr>
          <a:xfrm>
            <a:off x="6456680" y="4119879"/>
            <a:ext cx="106680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969DA"/>
                </a:solidFill>
                <a:latin typeface="JetBrains Mono" pitchFamily="49" charset="0"/>
                <a:ea typeface="JetBrains Mono" pitchFamily="49" charset="-122"/>
                <a:cs typeface="JetBrains Mono" pitchFamily="49" charset="-120"/>
              </a:rPr>
              <a:t>LALR(1)</a:t>
            </a:r>
            <a:endParaRPr lang="en-US" sz="1200" dirty="0">
              <a:latin typeface="JetBrains Mono" charset="0"/>
              <a:ea typeface="JetBrains Mono" charset="0"/>
              <a:cs typeface="JetBrains Mono" charset="0"/>
            </a:endParaRPr>
          </a:p>
        </p:txBody>
      </p:sp>
      <p:sp>
        <p:nvSpPr>
          <p:cNvPr id="27" name="Text 25"/>
          <p:cNvSpPr/>
          <p:nvPr/>
        </p:nvSpPr>
        <p:spPr>
          <a:xfrm>
            <a:off x="7625080" y="4119879"/>
            <a:ext cx="3599891"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53800"/>
                </a:solidFill>
                <a:latin typeface="IBM Plex Sans" pitchFamily="34" charset="0"/>
                <a:ea typeface="IBM Plex Sans" pitchFamily="34" charset="-122"/>
                <a:cs typeface="IBM Plex Sans" pitchFamily="34" charset="-120"/>
              </a:rPr>
              <a:t>Conflict:</a:t>
            </a:r>
            <a:r>
              <a:rPr lang="en-US" sz="1200" dirty="0">
                <a:solidFill>
                  <a:srgbClr val="953800"/>
                </a:solidFill>
                <a:latin typeface="IBM Plex Sans" pitchFamily="34" charset="0"/>
                <a:ea typeface="IBM Plex Sans" pitchFamily="34" charset="-122"/>
                <a:cs typeface="IBM Plex Sans" pitchFamily="34" charset="-120"/>
              </a:rPr>
              <a:t> reduce/reduce on d, e, caused by the merge</a:t>
            </a:r>
            <a:endParaRPr lang="en-US" sz="1200" dirty="0">
              <a:latin typeface="IBM Plex Sans" charset="0"/>
              <a:ea typeface="IBM Plex Sans" charset="0"/>
              <a:cs typeface="IBM Plex Sans" charset="0"/>
            </a:endParaRPr>
          </a:p>
        </p:txBody>
      </p:sp>
      <p:sp>
        <p:nvSpPr>
          <p:cNvPr id="28" name="Text 26"/>
          <p:cNvSpPr/>
          <p:nvPr/>
        </p:nvSpPr>
        <p:spPr>
          <a:xfrm>
            <a:off x="812800" y="5097779"/>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7606A"/>
                </a:solidFill>
                <a:latin typeface="IBM Plex Sans" pitchFamily="34" charset="0"/>
                <a:ea typeface="IBM Plex Sans" pitchFamily="34" charset="-122"/>
                <a:cs typeface="IBM Plex Sans" pitchFamily="34" charset="-120"/>
              </a:rPr>
              <a:t>The tool shows the competing items and why each lookahead is there. A conflict alone does not prove ambiguity: the grammar may just need more lookahead.</a:t>
            </a:r>
            <a:endParaRPr lang="en-US" sz="1400" dirty="0">
              <a:latin typeface="IBM Plex Sans" charset="0"/>
              <a:ea typeface="IBM Plex Sans" charset="0"/>
              <a:cs typeface="IBM Plex Sans"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953800"/>
                </a:solidFill>
                <a:latin typeface="JetBrains Mono" pitchFamily="49" charset="0"/>
                <a:ea typeface="JetBrains Mono" pitchFamily="49" charset="-122"/>
                <a:cs typeface="JetBrains Mono" pitchFamily="49" charset="-120"/>
              </a:rPr>
              <a:t>STEP 5 · PARSE AN INPUT</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153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F2328"/>
                </a:solidFill>
                <a:latin typeface="IBM Plex Sans" pitchFamily="34" charset="0"/>
                <a:ea typeface="IBM Plex Sans" pitchFamily="34" charset="-122"/>
                <a:cs typeface="IBM Plex Sans" pitchFamily="34" charset="-120"/>
              </a:rPr>
              <a:t>Parsing id * id, one step at a time</a:t>
            </a:r>
            <a:endParaRPr lang="en-US" sz="3600" dirty="0">
              <a:latin typeface="IBM Plex Sans" charset="0"/>
              <a:ea typeface="IBM Plex Sans" charset="0"/>
              <a:cs typeface="IBM Plex Sans" charset="0"/>
            </a:endParaRPr>
          </a:p>
        </p:txBody>
      </p:sp>
      <p:sp>
        <p:nvSpPr>
          <p:cNvPr id="4" name="Shape 2"/>
          <p:cNvSpPr/>
          <p:nvPr/>
        </p:nvSpPr>
        <p:spPr>
          <a:xfrm>
            <a:off x="812800" y="1960879"/>
            <a:ext cx="5969000" cy="3418840"/>
          </a:xfrm>
          <a:prstGeom prst="roundRect">
            <a:avLst>
              <a:gd name="adj" fmla="val 2972"/>
            </a:avLst>
          </a:prstGeom>
          <a:solidFill>
            <a:srgbClr val="FDFEFF"/>
          </a:solidFill>
          <a:ln/>
        </p:spPr>
      </p:sp>
      <p:sp>
        <p:nvSpPr>
          <p:cNvPr id="5" name="Shape 3"/>
          <p:cNvSpPr/>
          <p:nvPr/>
        </p:nvSpPr>
        <p:spPr>
          <a:xfrm>
            <a:off x="812800" y="1960879"/>
            <a:ext cx="5969000" cy="3418840"/>
          </a:xfrm>
          <a:custGeom>
            <a:avLst/>
            <a:gdLst/>
            <a:ahLst/>
            <a:cxnLst/>
            <a:rect l="l" t="t" r="r" b="b"/>
            <a:pathLst>
              <a:path w="5969000" h="3418840">
                <a:moveTo>
                  <a:pt x="5867400" y="0"/>
                </a:moveTo>
                <a:lnTo>
                  <a:pt x="5867400" y="0"/>
                </a:lnTo>
                <a:arcTo hR="101600" wR="101600" stAng="16200000" swAng="5400000"/>
                <a:lnTo>
                  <a:pt x="5969000" y="3317240"/>
                </a:lnTo>
                <a:arcTo hR="101600" wR="101600" stAng="0" swAng="5400000"/>
                <a:lnTo>
                  <a:pt x="101600" y="3418840"/>
                </a:lnTo>
                <a:arcTo hR="101600" wR="101600" stAng="5400000" swAng="5400000"/>
                <a:lnTo>
                  <a:pt x="0" y="3317240"/>
                </a:lnTo>
                <a:arcTo hR="95250" wR="101600" stAng="10800000" swAng="-5400000"/>
                <a:lnTo>
                  <a:pt x="5867400" y="3412490"/>
                </a:lnTo>
                <a:arcTo hR="95250" wR="95250" stAng="5400000" swAng="-5400000"/>
                <a:lnTo>
                  <a:pt x="5962650" y="101600"/>
                </a:lnTo>
                <a:arcTo hR="101600" wR="95250" stAng="0" swAng="-5400000"/>
                <a:close/>
              </a:path>
            </a:pathLst>
          </a:custGeom>
          <a:solidFill>
            <a:srgbClr val="D0D7DE"/>
          </a:solidFill>
          <a:ln/>
        </p:spPr>
      </p:sp>
      <p:sp>
        <p:nvSpPr>
          <p:cNvPr id="6" name="Shape 4"/>
          <p:cNvSpPr/>
          <p:nvPr/>
        </p:nvSpPr>
        <p:spPr>
          <a:xfrm>
            <a:off x="812800" y="1960879"/>
            <a:ext cx="5969000" cy="3418840"/>
          </a:xfrm>
          <a:custGeom>
            <a:avLst/>
            <a:gdLst/>
            <a:ahLst/>
            <a:cxnLst/>
            <a:rect l="l" t="t" r="r" b="b"/>
            <a:pathLst>
              <a:path w="5969000" h="3418840">
                <a:moveTo>
                  <a:pt x="101600" y="3418840"/>
                </a:moveTo>
                <a:lnTo>
                  <a:pt x="101600" y="3418840"/>
                </a:lnTo>
                <a:arcTo hR="101600" wR="101600" stAng="5400000" swAng="5400000"/>
                <a:lnTo>
                  <a:pt x="0" y="101600"/>
                </a:lnTo>
                <a:arcTo hR="101600" wR="101600" stAng="10800000" swAng="5400000"/>
                <a:lnTo>
                  <a:pt x="5867400" y="0"/>
                </a:lnTo>
                <a:arcTo hR="101600" wR="101600" stAng="16200000" swAng="5400000"/>
                <a:lnTo>
                  <a:pt x="5969000" y="101600"/>
                </a:lnTo>
                <a:arcTo hR="91440" wR="101600" stAng="0" swAng="-5400000"/>
                <a:lnTo>
                  <a:pt x="101600" y="10160"/>
                </a:lnTo>
                <a:arcTo hR="91440" wR="91440" stAng="16200000" swAng="-5400000"/>
                <a:lnTo>
                  <a:pt x="10160" y="3317240"/>
                </a:lnTo>
                <a:arcTo hR="101600" wR="9144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49960" y="2021839"/>
          <a:ext cx="5699760" cy="3302000"/>
        </p:xfrm>
        <a:graphic>
          <a:graphicData uri="http://schemas.openxmlformats.org/drawingml/2006/table">
            <a:tbl>
              <a:tblPr/>
              <a:tblGrid>
                <a:gridCol w="569976"/>
                <a:gridCol w="1481938"/>
                <a:gridCol w="1367942"/>
                <a:gridCol w="2279904"/>
              </a:tblGrid>
              <a:tr h="330200">
                <a:tc>
                  <a:txBody>
                    <a:bodyPr/>
                    <a:lstStyle/>
                    <a:p>
                      <a:pPr indent="0" marL="0">
                        <a:lnSpc>
                          <a:spcPts val="1680"/>
                        </a:lnSpc>
                        <a:buNone/>
                      </a:pPr>
                      <a:r>
                        <a:rPr lang="en-US" sz="1200" b="1" dirty="0">
                          <a:solidFill>
                            <a:srgbClr val="1F232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txBody>
                  <a:tcPr marL="53340" marR="53340" marT="53340" marB="53340" anchor="t">
                    <a:lnL w="0" cap="flat" cmpd="sng" algn="ctr">
                      <a:noFill/>
                    </a:lnL>
                    <a:lnR w="12700" cap="flat" cmpd="sng" algn="ctr">
                      <a:solidFill>
                        <a:srgbClr val="BBBEC1"/>
                      </a:solidFill>
                      <a:prstDash val="solid"/>
                      <a:round/>
                      <a:headEnd type="none" w="med" len="med"/>
                      <a:tailEnd type="none" w="med" len="med"/>
                    </a:lnR>
                    <a:lnT w="0" cap="flat" cmpd="sng" algn="ctr">
                      <a:noFill/>
                    </a:lnT>
                    <a:lnB w="12700" cap="flat" cmpd="sng" algn="ctr">
                      <a:solidFill>
                        <a:srgbClr val="BBBEC1"/>
                      </a:solidFill>
                      <a:prstDash val="solid"/>
                      <a:round/>
                      <a:headEnd type="none" w="med" len="med"/>
                      <a:tailEnd type="none" w="med" len="med"/>
                    </a:lnB>
                    <a:solidFill>
                      <a:srgbClr val="EAEEF2"/>
                    </a:solidFill>
                  </a:tcPr>
                </a:tc>
                <a:tc>
                  <a:txBody>
                    <a:bodyPr/>
                    <a:lstStyle/>
                    <a:p>
                      <a:pPr indent="0" marL="0">
                        <a:lnSpc>
                          <a:spcPts val="1680"/>
                        </a:lnSpc>
                        <a:buNone/>
                      </a:pPr>
                      <a:r>
                        <a:rPr lang="en-US" sz="1200" b="1" dirty="0">
                          <a:solidFill>
                            <a:srgbClr val="1F2328"/>
                          </a:solidFill>
                          <a:latin typeface="JetBrains Mono" pitchFamily="49" charset="0"/>
                          <a:ea typeface="JetBrains Mono" pitchFamily="49" charset="-122"/>
                          <a:cs typeface="JetBrains Mono" pitchFamily="49" charset="-120"/>
                        </a:rPr>
                        <a:t>Stack</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BBEC1"/>
                      </a:solidFill>
                      <a:prstDash val="solid"/>
                      <a:round/>
                      <a:headEnd type="none" w="med" len="med"/>
                      <a:tailEnd type="none" w="med" len="med"/>
                    </a:lnL>
                    <a:lnR w="12700" cap="flat" cmpd="sng" algn="ctr">
                      <a:solidFill>
                        <a:srgbClr val="BBBEC1"/>
                      </a:solidFill>
                      <a:prstDash val="solid"/>
                      <a:round/>
                      <a:headEnd type="none" w="med" len="med"/>
                      <a:tailEnd type="none" w="med" len="med"/>
                    </a:lnR>
                    <a:lnT w="0" cap="flat" cmpd="sng" algn="ctr">
                      <a:noFill/>
                    </a:lnT>
                    <a:lnB w="12700" cap="flat" cmpd="sng" algn="ctr">
                      <a:solidFill>
                        <a:srgbClr val="BBBEC1"/>
                      </a:solidFill>
                      <a:prstDash val="solid"/>
                      <a:round/>
                      <a:headEnd type="none" w="med" len="med"/>
                      <a:tailEnd type="none" w="med" len="med"/>
                    </a:lnB>
                    <a:solidFill>
                      <a:srgbClr val="EAEEF2"/>
                    </a:solidFill>
                  </a:tcPr>
                </a:tc>
                <a:tc>
                  <a:txBody>
                    <a:bodyPr/>
                    <a:lstStyle/>
                    <a:p>
                      <a:pPr indent="0" marL="0">
                        <a:lnSpc>
                          <a:spcPts val="1680"/>
                        </a:lnSpc>
                        <a:buNone/>
                      </a:pPr>
                      <a:r>
                        <a:rPr lang="en-US" sz="1200" b="1" dirty="0">
                          <a:solidFill>
                            <a:srgbClr val="1F2328"/>
                          </a:solidFill>
                          <a:latin typeface="JetBrains Mono" pitchFamily="49" charset="0"/>
                          <a:ea typeface="JetBrains Mono" pitchFamily="49" charset="-122"/>
                          <a:cs typeface="JetBrains Mono" pitchFamily="49" charset="-120"/>
                        </a:rPr>
                        <a:t>Input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BBEC1"/>
                      </a:solidFill>
                      <a:prstDash val="solid"/>
                      <a:round/>
                      <a:headEnd type="none" w="med" len="med"/>
                      <a:tailEnd type="none" w="med" len="med"/>
                    </a:lnL>
                    <a:lnR w="12700" cap="flat" cmpd="sng" algn="ctr">
                      <a:solidFill>
                        <a:srgbClr val="BBBEC1"/>
                      </a:solidFill>
                      <a:prstDash val="solid"/>
                      <a:round/>
                      <a:headEnd type="none" w="med" len="med"/>
                      <a:tailEnd type="none" w="med" len="med"/>
                    </a:lnR>
                    <a:lnT w="0" cap="flat" cmpd="sng" algn="ctr">
                      <a:noFill/>
                    </a:lnT>
                    <a:lnB w="12700" cap="flat" cmpd="sng" algn="ctr">
                      <a:solidFill>
                        <a:srgbClr val="BBBEC1"/>
                      </a:solidFill>
                      <a:prstDash val="solid"/>
                      <a:round/>
                      <a:headEnd type="none" w="med" len="med"/>
                      <a:tailEnd type="none" w="med" len="med"/>
                    </a:lnB>
                    <a:solidFill>
                      <a:srgbClr val="EAEEF2"/>
                    </a:solidFill>
                  </a:tcPr>
                </a:tc>
                <a:tc>
                  <a:txBody>
                    <a:bodyPr/>
                    <a:lstStyle/>
                    <a:p>
                      <a:pPr indent="0" marL="0">
                        <a:lnSpc>
                          <a:spcPts val="1680"/>
                        </a:lnSpc>
                        <a:buNone/>
                      </a:pPr>
                      <a:r>
                        <a:rPr lang="en-US" sz="1200" b="1" dirty="0">
                          <a:solidFill>
                            <a:srgbClr val="1F2328"/>
                          </a:solidFill>
                          <a:latin typeface="JetBrains Mono" pitchFamily="49" charset="0"/>
                          <a:ea typeface="JetBrains Mono" pitchFamily="49" charset="-122"/>
                          <a:cs typeface="JetBrains Mono" pitchFamily="49" charset="-120"/>
                        </a:rPr>
                        <a:t>Action</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BBEC1"/>
                      </a:solidFill>
                      <a:prstDash val="solid"/>
                      <a:round/>
                      <a:headEnd type="none" w="med" len="med"/>
                      <a:tailEnd type="none" w="med" len="med"/>
                    </a:lnL>
                    <a:lnR w="12700" cap="flat" cmpd="sng" algn="ctr">
                      <a:solidFill>
                        <a:srgbClr val="BBBEC1"/>
                      </a:solidFill>
                      <a:prstDash val="solid"/>
                      <a:round/>
                      <a:headEnd type="none" w="med" len="med"/>
                      <a:tailEnd type="none" w="med" len="med"/>
                    </a:lnR>
                    <a:lnT w="0" cap="flat" cmpd="sng" algn="ctr">
                      <a:noFill/>
                    </a:lnT>
                    <a:lnB w="12700" cap="flat" cmpd="sng" algn="ctr">
                      <a:solidFill>
                        <a:srgbClr val="BBBEC1"/>
                      </a:solidFill>
                      <a:prstDash val="solid"/>
                      <a:round/>
                      <a:headEnd type="none" w="med" len="med"/>
                      <a:tailEnd type="none" w="med" len="med"/>
                    </a:lnB>
                    <a:solidFill>
                      <a:srgbClr val="EAEEF2"/>
                    </a:solidFill>
                  </a:tcPr>
                </a:tc>
              </a:tr>
              <a:tr h="330200">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1</a:t>
                      </a:r>
                      <a:endParaRPr lang="en-US" sz="1200" dirty="0">
                        <a:latin typeface="JetBrains Mono" charset="0"/>
                        <a:ea typeface="JetBrains Mono" charset="0"/>
                        <a:cs typeface="JetBrains Mono" charset="0"/>
                      </a:endParaRPr>
                    </a:p>
                  </a:txBody>
                  <a:tcPr marL="53340" marR="53340" marT="53340" marB="53340" anchor="t">
                    <a:lnL w="0" cap="flat" cmpd="sng" algn="ctr">
                      <a:noFill/>
                    </a:lnL>
                    <a:lnR w="12700" cap="flat" cmpd="sng" algn="ctr">
                      <a:solidFill>
                        <a:srgbClr val="CACBCB"/>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0</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id * id $</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0969DA"/>
                          </a:solidFill>
                          <a:latin typeface="JetBrains Mono" pitchFamily="49" charset="0"/>
                          <a:ea typeface="JetBrains Mono" pitchFamily="49" charset="-122"/>
                          <a:cs typeface="JetBrains Mono" pitchFamily="49" charset="-120"/>
                        </a:rPr>
                        <a:t>shift 5</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BBBEC1"/>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2</a:t>
                      </a:r>
                      <a:endParaRPr lang="en-US" sz="1200" dirty="0">
                        <a:latin typeface="JetBrains Mono" charset="0"/>
                        <a:ea typeface="JetBrains Mono" charset="0"/>
                        <a:cs typeface="JetBrains Mono" charset="0"/>
                      </a:endParaRPr>
                    </a:p>
                  </a:txBody>
                  <a:tcPr marL="53340" marR="53340" marT="53340" marB="53340" anchor="t">
                    <a:lnL w="0" cap="flat" cmpd="sng" algn="ctr">
                      <a:noFill/>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0 5</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 id $</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8250DF"/>
                          </a:solidFill>
                          <a:latin typeface="JetBrains Mono" pitchFamily="49" charset="0"/>
                          <a:ea typeface="JetBrains Mono" pitchFamily="49" charset="-122"/>
                          <a:cs typeface="JetBrains Mono" pitchFamily="49" charset="-120"/>
                        </a:rPr>
                        <a:t>reduce F → id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3</a:t>
                      </a:r>
                      <a:endParaRPr lang="en-US" sz="1200" dirty="0">
                        <a:latin typeface="JetBrains Mono" charset="0"/>
                        <a:ea typeface="JetBrains Mono" charset="0"/>
                        <a:cs typeface="JetBrains Mono" charset="0"/>
                      </a:endParaRPr>
                    </a:p>
                  </a:txBody>
                  <a:tcPr marL="53340" marR="53340" marT="53340" marB="53340" anchor="t">
                    <a:lnL w="0" cap="flat" cmpd="sng" algn="ctr">
                      <a:noFill/>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0 3</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 id $</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8250DF"/>
                          </a:solidFill>
                          <a:latin typeface="JetBrains Mono" pitchFamily="49" charset="0"/>
                          <a:ea typeface="JetBrains Mono" pitchFamily="49" charset="-122"/>
                          <a:cs typeface="JetBrains Mono" pitchFamily="49" charset="-120"/>
                        </a:rPr>
                        <a:t>reduce T → F</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4</a:t>
                      </a:r>
                      <a:endParaRPr lang="en-US" sz="1200" dirty="0">
                        <a:latin typeface="JetBrains Mono" charset="0"/>
                        <a:ea typeface="JetBrains Mono" charset="0"/>
                        <a:cs typeface="JetBrains Mono" charset="0"/>
                      </a:endParaRPr>
                    </a:p>
                  </a:txBody>
                  <a:tcPr marL="53340" marR="53340" marT="53340" marB="53340" anchor="t">
                    <a:lnL w="0" cap="flat" cmpd="sng" algn="ctr">
                      <a:noFill/>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0 2</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 id $</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0969DA"/>
                          </a:solidFill>
                          <a:latin typeface="JetBrains Mono" pitchFamily="49" charset="0"/>
                          <a:ea typeface="JetBrains Mono" pitchFamily="49" charset="-122"/>
                          <a:cs typeface="JetBrains Mono" pitchFamily="49" charset="-120"/>
                        </a:rPr>
                        <a:t>shift 7</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5</a:t>
                      </a:r>
                      <a:endParaRPr lang="en-US" sz="1200" dirty="0">
                        <a:latin typeface="JetBrains Mono" charset="0"/>
                        <a:ea typeface="JetBrains Mono" charset="0"/>
                        <a:cs typeface="JetBrains Mono" charset="0"/>
                      </a:endParaRPr>
                    </a:p>
                  </a:txBody>
                  <a:tcPr marL="53340" marR="53340" marT="53340" marB="53340" anchor="t">
                    <a:lnL w="0" cap="flat" cmpd="sng" algn="ctr">
                      <a:noFill/>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0 2 7</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id $</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0969DA"/>
                          </a:solidFill>
                          <a:latin typeface="JetBrains Mono" pitchFamily="49" charset="0"/>
                          <a:ea typeface="JetBrains Mono" pitchFamily="49" charset="-122"/>
                          <a:cs typeface="JetBrains Mono" pitchFamily="49" charset="-120"/>
                        </a:rPr>
                        <a:t>shift 5</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6</a:t>
                      </a:r>
                      <a:endParaRPr lang="en-US" sz="1200" dirty="0">
                        <a:latin typeface="JetBrains Mono" charset="0"/>
                        <a:ea typeface="JetBrains Mono" charset="0"/>
                        <a:cs typeface="JetBrains Mono" charset="0"/>
                      </a:endParaRPr>
                    </a:p>
                  </a:txBody>
                  <a:tcPr marL="53340" marR="53340" marT="53340" marB="53340" anchor="t">
                    <a:lnL w="0" cap="flat" cmpd="sng" algn="ctr">
                      <a:noFill/>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0 2 7 5</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8250DF"/>
                          </a:solidFill>
                          <a:latin typeface="JetBrains Mono" pitchFamily="49" charset="0"/>
                          <a:ea typeface="JetBrains Mono" pitchFamily="49" charset="-122"/>
                          <a:cs typeface="JetBrains Mono" pitchFamily="49" charset="-120"/>
                        </a:rPr>
                        <a:t>reduce F → id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7</a:t>
                      </a:r>
                      <a:endParaRPr lang="en-US" sz="1200" dirty="0">
                        <a:latin typeface="JetBrains Mono" charset="0"/>
                        <a:ea typeface="JetBrains Mono" charset="0"/>
                        <a:cs typeface="JetBrains Mono" charset="0"/>
                      </a:endParaRPr>
                    </a:p>
                  </a:txBody>
                  <a:tcPr marL="53340" marR="53340" marT="53340" marB="53340" anchor="t">
                    <a:lnL w="0" cap="flat" cmpd="sng" algn="ctr">
                      <a:noFill/>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0 2 7 10</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8250DF"/>
                          </a:solidFill>
                          <a:latin typeface="JetBrains Mono" pitchFamily="49" charset="0"/>
                          <a:ea typeface="JetBrains Mono" pitchFamily="49" charset="-122"/>
                          <a:cs typeface="JetBrains Mono" pitchFamily="49" charset="-120"/>
                        </a:rPr>
                        <a:t>reduce T → T * F</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8</a:t>
                      </a:r>
                      <a:endParaRPr lang="en-US" sz="1200" dirty="0">
                        <a:latin typeface="JetBrains Mono" charset="0"/>
                        <a:ea typeface="JetBrains Mono" charset="0"/>
                        <a:cs typeface="JetBrains Mono" charset="0"/>
                      </a:endParaRPr>
                    </a:p>
                  </a:txBody>
                  <a:tcPr marL="53340" marR="53340" marT="53340" marB="53340" anchor="t">
                    <a:lnL w="0" cap="flat" cmpd="sng" algn="ctr">
                      <a:noFill/>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0 2</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c>
                  <a:txBody>
                    <a:bodyPr/>
                    <a:lstStyle/>
                    <a:p>
                      <a:pPr indent="0" marL="0">
                        <a:lnSpc>
                          <a:spcPts val="1680"/>
                        </a:lnSpc>
                        <a:buNone/>
                      </a:pPr>
                      <a:r>
                        <a:rPr lang="en-US" sz="1200" dirty="0">
                          <a:solidFill>
                            <a:srgbClr val="8250DF"/>
                          </a:solidFill>
                          <a:latin typeface="JetBrains Mono" pitchFamily="49" charset="0"/>
                          <a:ea typeface="JetBrains Mono" pitchFamily="49" charset="-122"/>
                          <a:cs typeface="JetBrains Mono" pitchFamily="49" charset="-120"/>
                        </a:rPr>
                        <a:t>reduce E → 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BCB"/>
                      </a:solidFill>
                      <a:prstDash val="solid"/>
                      <a:round/>
                      <a:headEnd type="none" w="med" len="med"/>
                      <a:tailEnd type="none" w="med" len="med"/>
                    </a:lnL>
                    <a:lnR w="12700" cap="flat" cmpd="sng" algn="ctr">
                      <a:solidFill>
                        <a:srgbClr val="CACBCB"/>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CA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9</a:t>
                      </a:r>
                      <a:endParaRPr lang="en-US" sz="1200" dirty="0">
                        <a:latin typeface="JetBrains Mono" charset="0"/>
                        <a:ea typeface="JetBrains Mono" charset="0"/>
                        <a:cs typeface="JetBrains Mono" charset="0"/>
                      </a:endParaRPr>
                    </a:p>
                  </a:txBody>
                  <a:tcPr marL="53340" marR="53340" marT="53340" marB="53340" anchor="t">
                    <a:lnL w="0" cap="flat" cmpd="sng" algn="ctr">
                      <a:noFill/>
                    </a:lnL>
                    <a:lnR w="12700" cap="flat" cmpd="sng" algn="ctr">
                      <a:solidFill>
                        <a:srgbClr val="AEC8B4"/>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AEC8B4"/>
                      </a:solidFill>
                      <a:prstDash val="solid"/>
                      <a:round/>
                      <a:headEnd type="none" w="med" len="med"/>
                      <a:tailEnd type="none" w="med" len="med"/>
                    </a:lnB>
                    <a:solidFill>
                      <a:srgbClr val="DAFBE1"/>
                    </a:solidFill>
                  </a:tcPr>
                </a:tc>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0 1</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AEC8B4"/>
                      </a:solidFill>
                      <a:prstDash val="solid"/>
                      <a:round/>
                      <a:headEnd type="none" w="med" len="med"/>
                      <a:tailEnd type="none" w="med" len="med"/>
                    </a:lnL>
                    <a:lnR w="12700" cap="flat" cmpd="sng" algn="ctr">
                      <a:solidFill>
                        <a:srgbClr val="AEC8B4"/>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AEC8B4"/>
                      </a:solidFill>
                      <a:prstDash val="solid"/>
                      <a:round/>
                      <a:headEnd type="none" w="med" len="med"/>
                      <a:tailEnd type="none" w="med" len="med"/>
                    </a:lnB>
                    <a:solidFill>
                      <a:srgbClr val="DAFBE1"/>
                    </a:solidFill>
                  </a:tcPr>
                </a:tc>
                <a:tc>
                  <a:txBody>
                    <a:bodyPr/>
                    <a:lstStyle/>
                    <a:p>
                      <a:pPr indent="0" marL="0">
                        <a:lnSpc>
                          <a:spcPts val="1680"/>
                        </a:lnSpc>
                        <a:buNone/>
                      </a:pPr>
                      <a:r>
                        <a:rPr lang="en-US" sz="1200" dirty="0">
                          <a:solidFill>
                            <a:srgbClr val="1F232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AEC8B4"/>
                      </a:solidFill>
                      <a:prstDash val="solid"/>
                      <a:round/>
                      <a:headEnd type="none" w="med" len="med"/>
                      <a:tailEnd type="none" w="med" len="med"/>
                    </a:lnL>
                    <a:lnR w="12700" cap="flat" cmpd="sng" algn="ctr">
                      <a:solidFill>
                        <a:srgbClr val="AEC8B4"/>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AEC8B4"/>
                      </a:solidFill>
                      <a:prstDash val="solid"/>
                      <a:round/>
                      <a:headEnd type="none" w="med" len="med"/>
                      <a:tailEnd type="none" w="med" len="med"/>
                    </a:lnB>
                    <a:solidFill>
                      <a:srgbClr val="DAFBE1"/>
                    </a:solidFill>
                  </a:tcPr>
                </a:tc>
                <a:tc>
                  <a:txBody>
                    <a:bodyPr/>
                    <a:lstStyle/>
                    <a:p>
                      <a:pPr indent="0" marL="0">
                        <a:lnSpc>
                          <a:spcPts val="1680"/>
                        </a:lnSpc>
                        <a:buNone/>
                      </a:pPr>
                      <a:r>
                        <a:rPr lang="en-US" sz="1200" dirty="0">
                          <a:solidFill>
                            <a:srgbClr val="1A7F37"/>
                          </a:solidFill>
                          <a:latin typeface="JetBrains Mono" pitchFamily="49" charset="0"/>
                          <a:ea typeface="JetBrains Mono" pitchFamily="49" charset="-122"/>
                          <a:cs typeface="JetBrains Mono" pitchFamily="49" charset="-120"/>
                        </a:rPr>
                        <a:t>accept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AEC8B4"/>
                      </a:solidFill>
                      <a:prstDash val="solid"/>
                      <a:round/>
                      <a:headEnd type="none" w="med" len="med"/>
                      <a:tailEnd type="none" w="med" len="med"/>
                    </a:lnL>
                    <a:lnR w="12700" cap="flat" cmpd="sng" algn="ctr">
                      <a:solidFill>
                        <a:srgbClr val="AEC8B4"/>
                      </a:solidFill>
                      <a:prstDash val="solid"/>
                      <a:round/>
                      <a:headEnd type="none" w="med" len="med"/>
                      <a:tailEnd type="none" w="med" len="med"/>
                    </a:lnR>
                    <a:lnT w="12700" cap="flat" cmpd="sng" algn="ctr">
                      <a:solidFill>
                        <a:srgbClr val="CACBCB"/>
                      </a:solidFill>
                      <a:prstDash val="solid"/>
                      <a:round/>
                      <a:headEnd type="none" w="med" len="med"/>
                      <a:tailEnd type="none" w="med" len="med"/>
                    </a:lnT>
                    <a:lnB w="12700" cap="flat" cmpd="sng" algn="ctr">
                      <a:solidFill>
                        <a:srgbClr val="AEC8B4"/>
                      </a:solidFill>
                      <a:prstDash val="solid"/>
                      <a:round/>
                      <a:headEnd type="none" w="med" len="med"/>
                      <a:tailEnd type="none" w="med" len="med"/>
                    </a:lnB>
                    <a:solidFill>
                      <a:srgbClr val="DAFBE1"/>
                    </a:solidFill>
                  </a:tcPr>
                </a:tc>
              </a:tr>
            </a:tbl>
          </a:graphicData>
        </a:graphic>
      </p:graphicFrame>
      <p:sp>
        <p:nvSpPr>
          <p:cNvPr id="8" name="Text 5"/>
          <p:cNvSpPr/>
          <p:nvPr/>
        </p:nvSpPr>
        <p:spPr>
          <a:xfrm>
            <a:off x="7188200" y="1960879"/>
            <a:ext cx="4316730"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7606A"/>
                </a:solidFill>
                <a:latin typeface="IBM Plex Sans" pitchFamily="34" charset="0"/>
                <a:ea typeface="IBM Plex Sans" pitchFamily="34" charset="-122"/>
                <a:cs typeface="IBM Plex Sans" pitchFamily="34" charset="-120"/>
              </a:rPr>
              <a:t>Each row is the configuration </a:t>
            </a:r>
            <a:r>
              <a:rPr lang="en-US" sz="1400" b="1" dirty="0">
                <a:solidFill>
                  <a:srgbClr val="1F2328"/>
                </a:solidFill>
                <a:latin typeface="IBM Plex Sans" pitchFamily="34" charset="0"/>
                <a:ea typeface="IBM Plex Sans" pitchFamily="34" charset="-122"/>
                <a:cs typeface="IBM Plex Sans" pitchFamily="34" charset="-120"/>
              </a:rPr>
              <a:t>before</a:t>
            </a:r>
            <a:r>
              <a:rPr lang="en-US" sz="1400" dirty="0">
                <a:solidFill>
                  <a:srgbClr val="57606A"/>
                </a:solidFill>
                <a:latin typeface="IBM Plex Sans" pitchFamily="34" charset="0"/>
                <a:ea typeface="IBM Plex Sans" pitchFamily="34" charset="-122"/>
                <a:cs typeface="IBM Plex Sans" pitchFamily="34" charset="-120"/>
              </a:rPr>
              <a:t> its action; the table cell it used is highlighted.</a:t>
            </a:r>
            <a:endParaRPr lang="en-US" sz="1400" dirty="0">
              <a:latin typeface="IBM Plex Sans" charset="0"/>
              <a:ea typeface="IBM Plex Sans" charset="0"/>
              <a:cs typeface="IBM Plex Sans" charset="0"/>
            </a:endParaRPr>
          </a:p>
        </p:txBody>
      </p:sp>
      <p:sp>
        <p:nvSpPr>
          <p:cNvPr id="9" name="Text 6"/>
          <p:cNvSpPr/>
          <p:nvPr/>
        </p:nvSpPr>
        <p:spPr>
          <a:xfrm>
            <a:off x="7188200" y="2654300"/>
            <a:ext cx="4316730"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7606A"/>
                </a:solidFill>
                <a:latin typeface="IBM Plex Sans" pitchFamily="34" charset="0"/>
                <a:ea typeface="IBM Plex Sans" pitchFamily="34" charset="-122"/>
                <a:cs typeface="IBM Plex Sans" pitchFamily="34" charset="-120"/>
              </a:rPr>
              <a:t>The parse tree grows bottom-up, and the rightmost derivation fills in as reductions happen:</a:t>
            </a:r>
            <a:endParaRPr lang="en-US" sz="1400" dirty="0">
              <a:latin typeface="IBM Plex Sans" charset="0"/>
              <a:ea typeface="IBM Plex Sans" charset="0"/>
              <a:cs typeface="IBM Plex Sans" charset="0"/>
            </a:endParaRPr>
          </a:p>
        </p:txBody>
      </p:sp>
      <p:sp>
        <p:nvSpPr>
          <p:cNvPr id="10" name="Text 7"/>
          <p:cNvSpPr/>
          <p:nvPr/>
        </p:nvSpPr>
        <p:spPr>
          <a:xfrm>
            <a:off x="7191375" y="3350896"/>
            <a:ext cx="4184650" cy="745490"/>
          </a:xfrm>
          <a:prstGeom prst="roundRect">
            <a:avLst>
              <a:gd name="adj" fmla="val 9796"/>
            </a:avLst>
          </a:prstGeom>
          <a:solidFill>
            <a:srgbClr val="FDFEFF"/>
          </a:solidFill>
          <a:ln w="6350">
            <a:solidFill>
              <a:srgbClr val="D0D7DE"/>
            </a:solidFill>
            <a:prstDash val="solid"/>
          </a:ln>
        </p:spPr>
        <p:txBody>
          <a:bodyPr wrap="square" lIns="132917" tIns="107517" rIns="16635" bIns="82117" rtlCol="0" anchor="t">
            <a:normAutofit/>
          </a:bodyPr>
          <a:lstStyle/>
          <a:p>
            <a:pPr algn="l" indent="0" marL="0">
              <a:lnSpc>
                <a:spcPts val="1920"/>
              </a:lnSpc>
              <a:buNone/>
            </a:pPr>
            <a:r>
              <a:rPr lang="en-US" sz="1200" dirty="0">
                <a:solidFill>
                  <a:srgbClr val="1F2328"/>
                </a:solidFill>
                <a:latin typeface="JetBrains Mono" pitchFamily="49" charset="0"/>
                <a:ea typeface="JetBrains Mono" pitchFamily="49" charset="-122"/>
                <a:cs typeface="JetBrains Mono" pitchFamily="49" charset="-120"/>
              </a:rPr>
              <a:t>E ⇒ T ⇒ T * F ⇒ T * id</a:t>
            </a:r>
            <a:endParaRPr lang="en-US" sz="1200" dirty="0">
              <a:latin typeface="JetBrains Mono" charset="0"/>
              <a:ea typeface="JetBrains Mono" charset="0"/>
              <a:cs typeface="JetBrains Mono" charset="0"/>
            </a:endParaRPr>
          </a:p>
          <a:p>
            <a:pPr algn="l" indent="0" marL="0">
              <a:lnSpc>
                <a:spcPts val="1920"/>
              </a:lnSpc>
              <a:buNone/>
            </a:pPr>
            <a:r>
              <a:rPr lang="en-US" sz="1200" dirty="0">
                <a:solidFill>
                  <a:srgbClr val="1F2328"/>
                </a:solidFill>
                <a:latin typeface="JetBrains Mono" pitchFamily="49" charset="0"/>
                <a:ea typeface="JetBrains Mono" pitchFamily="49" charset="-122"/>
                <a:cs typeface="JetBrains Mono" pitchFamily="49" charset="-120"/>
              </a:rPr>
              <a:t>  ⇒ F * id ⇒ id * id</a:t>
            </a:r>
            <a:endParaRPr lang="en-US" sz="1200" dirty="0">
              <a:latin typeface="JetBrains Mono" charset="0"/>
              <a:ea typeface="JetBrains Mono" charset="0"/>
              <a:cs typeface="JetBrains Mono" charset="0"/>
            </a:endParaRPr>
          </a:p>
        </p:txBody>
      </p:sp>
      <p:sp>
        <p:nvSpPr>
          <p:cNvPr id="11" name="Text 8"/>
          <p:cNvSpPr/>
          <p:nvPr/>
        </p:nvSpPr>
        <p:spPr>
          <a:xfrm>
            <a:off x="7188200" y="4277364"/>
            <a:ext cx="4316730"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7606A"/>
                </a:solidFill>
                <a:latin typeface="IBM Plex Sans" pitchFamily="34" charset="0"/>
                <a:ea typeface="IBM Plex Sans" pitchFamily="34" charset="-122"/>
                <a:cs typeface="IBM Plex Sans" pitchFamily="34" charset="-120"/>
              </a:rPr>
              <a:t>On a conflict it halts, or prefers shift as yacc does; a step limit stops runaways.</a:t>
            </a:r>
            <a:endParaRPr lang="en-US" sz="1400" dirty="0">
              <a:latin typeface="IBM Plex Sans" charset="0"/>
              <a:ea typeface="IBM Plex Sans" charset="0"/>
              <a:cs typeface="IBM Plex Sans"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A657"/>
                </a:solidFill>
                <a:latin typeface="JetBrains Mono" pitchFamily="49" charset="0"/>
                <a:ea typeface="JetBrains Mono" pitchFamily="49" charset="-122"/>
                <a:cs typeface="JetBrains Mono" pitchFamily="49" charset="-120"/>
              </a:rPr>
              <a:t>ARCHITECTURE</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153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E6EDF3"/>
                </a:solidFill>
                <a:latin typeface="IBM Plex Sans" pitchFamily="34" charset="0"/>
                <a:ea typeface="IBM Plex Sans" pitchFamily="34" charset="-122"/>
                <a:cs typeface="IBM Plex Sans" pitchFamily="34" charset="-120"/>
              </a:rPr>
              <a:t>Built in layers, engine first</a:t>
            </a:r>
            <a:endParaRPr lang="en-US" sz="3600" dirty="0">
              <a:latin typeface="IBM Plex Sans" charset="0"/>
              <a:ea typeface="IBM Plex Sans" charset="0"/>
              <a:cs typeface="IBM Plex Sans" charset="0"/>
            </a:endParaRPr>
          </a:p>
        </p:txBody>
      </p:sp>
      <p:sp>
        <p:nvSpPr>
          <p:cNvPr id="4" name="Shape 2"/>
          <p:cNvSpPr/>
          <p:nvPr/>
        </p:nvSpPr>
        <p:spPr>
          <a:xfrm>
            <a:off x="815975" y="1964054"/>
            <a:ext cx="6597650" cy="821690"/>
          </a:xfrm>
          <a:prstGeom prst="roundRect">
            <a:avLst>
              <a:gd name="adj" fmla="val 10433"/>
            </a:avLst>
          </a:prstGeom>
          <a:solidFill>
            <a:srgbClr val="161B22"/>
          </a:solidFill>
          <a:ln w="6350">
            <a:solidFill>
              <a:srgbClr val="30363D"/>
            </a:solidFill>
            <a:prstDash val="solid"/>
          </a:ln>
        </p:spPr>
      </p:sp>
      <p:sp>
        <p:nvSpPr>
          <p:cNvPr id="5" name="Text 3"/>
          <p:cNvSpPr/>
          <p:nvPr/>
        </p:nvSpPr>
        <p:spPr>
          <a:xfrm>
            <a:off x="1021080" y="2118364"/>
            <a:ext cx="78695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6EDF3"/>
                </a:solidFill>
                <a:latin typeface="IBM Plex Sans" pitchFamily="34" charset="0"/>
                <a:ea typeface="IBM Plex Sans" pitchFamily="34" charset="-122"/>
                <a:cs typeface="IBM Plex Sans" pitchFamily="34" charset="-120"/>
              </a:rPr>
              <a:t>Routes</a:t>
            </a:r>
            <a:endParaRPr lang="en-US" sz="1600" dirty="0">
              <a:latin typeface="IBM Plex Sans" charset="0"/>
              <a:ea typeface="IBM Plex Sans" charset="0"/>
              <a:cs typeface="IBM Plex Sans" charset="0"/>
            </a:endParaRPr>
          </a:p>
        </p:txBody>
      </p:sp>
      <p:sp>
        <p:nvSpPr>
          <p:cNvPr id="6" name="Text 4"/>
          <p:cNvSpPr/>
          <p:nvPr/>
        </p:nvSpPr>
        <p:spPr>
          <a:xfrm>
            <a:off x="4465320" y="2153921"/>
            <a:ext cx="27432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198A1"/>
                </a:solidFill>
                <a:latin typeface="JetBrains Mono" pitchFamily="49" charset="0"/>
                <a:ea typeface="JetBrains Mono" pitchFamily="49" charset="-122"/>
                <a:cs typeface="JetBrains Mono" pitchFamily="49" charset="-120"/>
              </a:rPr>
              <a:t>src/app/&lt;module&gt;/page.tsx</a:t>
            </a:r>
            <a:endParaRPr lang="en-US" sz="1200" dirty="0">
              <a:latin typeface="JetBrains Mono" charset="0"/>
              <a:ea typeface="JetBrains Mono" charset="0"/>
              <a:cs typeface="JetBrains Mono" charset="0"/>
            </a:endParaRPr>
          </a:p>
        </p:txBody>
      </p:sp>
      <p:sp>
        <p:nvSpPr>
          <p:cNvPr id="7" name="Text 5"/>
          <p:cNvSpPr/>
          <p:nvPr/>
        </p:nvSpPr>
        <p:spPr>
          <a:xfrm>
            <a:off x="1021080" y="2418079"/>
            <a:ext cx="637306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2"/>
                </a:solidFill>
                <a:latin typeface="IBM Plex Sans" pitchFamily="34" charset="0"/>
                <a:ea typeface="IBM Plex Sans" pitchFamily="34" charset="-122"/>
                <a:cs typeface="IBM Plex Sans" pitchFamily="34" charset="-120"/>
              </a:rPr>
              <a:t>One Next.js 16 route per page of the studio</a:t>
            </a:r>
            <a:endParaRPr lang="en-US" sz="1200" dirty="0">
              <a:latin typeface="IBM Plex Sans" charset="0"/>
              <a:ea typeface="IBM Plex Sans" charset="0"/>
              <a:cs typeface="IBM Plex Sans" charset="0"/>
            </a:endParaRPr>
          </a:p>
        </p:txBody>
      </p:sp>
      <p:sp>
        <p:nvSpPr>
          <p:cNvPr id="8" name="Shape 6"/>
          <p:cNvSpPr/>
          <p:nvPr/>
        </p:nvSpPr>
        <p:spPr>
          <a:xfrm>
            <a:off x="815975" y="2893696"/>
            <a:ext cx="6597650" cy="821690"/>
          </a:xfrm>
          <a:prstGeom prst="roundRect">
            <a:avLst>
              <a:gd name="adj" fmla="val 10433"/>
            </a:avLst>
          </a:prstGeom>
          <a:solidFill>
            <a:srgbClr val="161B22"/>
          </a:solidFill>
          <a:ln w="6350">
            <a:solidFill>
              <a:srgbClr val="30363D"/>
            </a:solidFill>
            <a:prstDash val="solid"/>
          </a:ln>
        </p:spPr>
      </p:sp>
      <p:sp>
        <p:nvSpPr>
          <p:cNvPr id="9" name="Text 7"/>
          <p:cNvSpPr/>
          <p:nvPr/>
        </p:nvSpPr>
        <p:spPr>
          <a:xfrm>
            <a:off x="1021080" y="3048000"/>
            <a:ext cx="67808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6EDF3"/>
                </a:solidFill>
                <a:latin typeface="IBM Plex Sans" pitchFamily="34" charset="0"/>
                <a:ea typeface="IBM Plex Sans" pitchFamily="34" charset="-122"/>
                <a:cs typeface="IBM Plex Sans" pitchFamily="34" charset="-120"/>
              </a:rPr>
              <a:t>Views</a:t>
            </a:r>
            <a:endParaRPr lang="en-US" sz="1600" dirty="0">
              <a:latin typeface="IBM Plex Sans" charset="0"/>
              <a:ea typeface="IBM Plex Sans" charset="0"/>
              <a:cs typeface="IBM Plex Sans" charset="0"/>
            </a:endParaRPr>
          </a:p>
        </p:txBody>
      </p:sp>
      <p:sp>
        <p:nvSpPr>
          <p:cNvPr id="10" name="Text 8"/>
          <p:cNvSpPr/>
          <p:nvPr/>
        </p:nvSpPr>
        <p:spPr>
          <a:xfrm>
            <a:off x="5013960" y="3083564"/>
            <a:ext cx="219456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198A1"/>
                </a:solidFill>
                <a:latin typeface="JetBrains Mono" pitchFamily="49" charset="0"/>
                <a:ea typeface="JetBrains Mono" pitchFamily="49" charset="-122"/>
                <a:cs typeface="JetBrains Mono" pitchFamily="49" charset="-120"/>
              </a:rPr>
              <a:t>src/components/views</a:t>
            </a:r>
            <a:endParaRPr lang="en-US" sz="1200" dirty="0">
              <a:latin typeface="JetBrains Mono" charset="0"/>
              <a:ea typeface="JetBrains Mono" charset="0"/>
              <a:cs typeface="JetBrains Mono" charset="0"/>
            </a:endParaRPr>
          </a:p>
        </p:txBody>
      </p:sp>
      <p:sp>
        <p:nvSpPr>
          <p:cNvPr id="11" name="Text 9"/>
          <p:cNvSpPr/>
          <p:nvPr/>
        </p:nvSpPr>
        <p:spPr>
          <a:xfrm>
            <a:off x="1021080" y="3347721"/>
            <a:ext cx="637306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2"/>
                </a:solidFill>
                <a:latin typeface="IBM Plex Sans" pitchFamily="34" charset="0"/>
                <a:ea typeface="IBM Plex Sans" pitchFamily="34" charset="-122"/>
                <a:cs typeface="IBM Plex Sans" pitchFamily="34" charset="-120"/>
              </a:rPr>
              <a:t>React 19 views; React Flow and dagre lay out the automata</a:t>
            </a:r>
            <a:endParaRPr lang="en-US" sz="1200" dirty="0">
              <a:latin typeface="IBM Plex Sans" charset="0"/>
              <a:ea typeface="IBM Plex Sans" charset="0"/>
              <a:cs typeface="IBM Plex Sans" charset="0"/>
            </a:endParaRPr>
          </a:p>
        </p:txBody>
      </p:sp>
      <p:sp>
        <p:nvSpPr>
          <p:cNvPr id="12" name="Shape 10"/>
          <p:cNvSpPr/>
          <p:nvPr/>
        </p:nvSpPr>
        <p:spPr>
          <a:xfrm>
            <a:off x="815975" y="3823339"/>
            <a:ext cx="6597650" cy="821690"/>
          </a:xfrm>
          <a:prstGeom prst="roundRect">
            <a:avLst>
              <a:gd name="adj" fmla="val 10433"/>
            </a:avLst>
          </a:prstGeom>
          <a:solidFill>
            <a:srgbClr val="161B22"/>
          </a:solidFill>
          <a:ln w="6350">
            <a:solidFill>
              <a:srgbClr val="30363D"/>
            </a:solidFill>
            <a:prstDash val="solid"/>
          </a:ln>
        </p:spPr>
      </p:sp>
      <p:sp>
        <p:nvSpPr>
          <p:cNvPr id="13" name="Text 11"/>
          <p:cNvSpPr/>
          <p:nvPr/>
        </p:nvSpPr>
        <p:spPr>
          <a:xfrm>
            <a:off x="1021080" y="3977642"/>
            <a:ext cx="136350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6EDF3"/>
                </a:solidFill>
                <a:latin typeface="IBM Plex Sans" pitchFamily="34" charset="0"/>
                <a:ea typeface="IBM Plex Sans" pitchFamily="34" charset="-122"/>
                <a:cs typeface="IBM Plex Sans" pitchFamily="34" charset="-120"/>
              </a:rPr>
              <a:t>Studio state</a:t>
            </a:r>
            <a:endParaRPr lang="en-US" sz="1600" dirty="0">
              <a:latin typeface="IBM Plex Sans" charset="0"/>
              <a:ea typeface="IBM Plex Sans" charset="0"/>
              <a:cs typeface="IBM Plex Sans" charset="0"/>
            </a:endParaRPr>
          </a:p>
        </p:txBody>
      </p:sp>
      <p:sp>
        <p:nvSpPr>
          <p:cNvPr id="14" name="Text 12"/>
          <p:cNvSpPr/>
          <p:nvPr/>
        </p:nvSpPr>
        <p:spPr>
          <a:xfrm>
            <a:off x="5672328" y="4013200"/>
            <a:ext cx="1536192"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198A1"/>
                </a:solidFill>
                <a:latin typeface="JetBrains Mono" pitchFamily="49" charset="0"/>
                <a:ea typeface="JetBrains Mono" pitchFamily="49" charset="-122"/>
                <a:cs typeface="JetBrains Mono" pitchFamily="49" charset="-120"/>
              </a:rPr>
              <a:t>src/lib/studio</a:t>
            </a:r>
            <a:endParaRPr lang="en-US" sz="1200" dirty="0">
              <a:latin typeface="JetBrains Mono" charset="0"/>
              <a:ea typeface="JetBrains Mono" charset="0"/>
              <a:cs typeface="JetBrains Mono" charset="0"/>
            </a:endParaRPr>
          </a:p>
        </p:txBody>
      </p:sp>
      <p:sp>
        <p:nvSpPr>
          <p:cNvPr id="15" name="Text 13"/>
          <p:cNvSpPr/>
          <p:nvPr/>
        </p:nvSpPr>
        <p:spPr>
          <a:xfrm>
            <a:off x="1021080" y="4277364"/>
            <a:ext cx="637306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2"/>
                </a:solidFill>
                <a:latin typeface="IBM Plex Sans" pitchFamily="34" charset="0"/>
                <a:ea typeface="IBM Plex Sans" pitchFamily="34" charset="-122"/>
                <a:cs typeface="IBM Plex Sans" pitchFamily="34" charset="-120"/>
              </a:rPr>
              <a:t>zustand store, share links, exports and the Markdown report</a:t>
            </a:r>
            <a:endParaRPr lang="en-US" sz="1200" dirty="0">
              <a:latin typeface="IBM Plex Sans" charset="0"/>
              <a:ea typeface="IBM Plex Sans" charset="0"/>
              <a:cs typeface="IBM Plex Sans" charset="0"/>
            </a:endParaRPr>
          </a:p>
        </p:txBody>
      </p:sp>
      <p:sp>
        <p:nvSpPr>
          <p:cNvPr id="16" name="Shape 14"/>
          <p:cNvSpPr/>
          <p:nvPr/>
        </p:nvSpPr>
        <p:spPr>
          <a:xfrm>
            <a:off x="819150" y="4756150"/>
            <a:ext cx="6591300" cy="825500"/>
          </a:xfrm>
          <a:prstGeom prst="roundRect">
            <a:avLst>
              <a:gd name="adj" fmla="val 10000"/>
            </a:avLst>
          </a:prstGeom>
          <a:solidFill>
            <a:srgbClr val="0C2D57"/>
          </a:solidFill>
          <a:ln w="12700">
            <a:solidFill>
              <a:srgbClr val="4493F8"/>
            </a:solidFill>
            <a:prstDash val="solid"/>
          </a:ln>
        </p:spPr>
      </p:sp>
      <p:sp>
        <p:nvSpPr>
          <p:cNvPr id="17" name="Text 15"/>
          <p:cNvSpPr/>
          <p:nvPr/>
        </p:nvSpPr>
        <p:spPr>
          <a:xfrm>
            <a:off x="1026160" y="4912364"/>
            <a:ext cx="7691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6EDF3"/>
                </a:solidFill>
                <a:latin typeface="IBM Plex Sans" pitchFamily="34" charset="0"/>
                <a:ea typeface="IBM Plex Sans" pitchFamily="34" charset="-122"/>
                <a:cs typeface="IBM Plex Sans" pitchFamily="34" charset="-120"/>
              </a:rPr>
              <a:t>Engine</a:t>
            </a:r>
            <a:endParaRPr lang="en-US" sz="1600" dirty="0">
              <a:latin typeface="IBM Plex Sans" charset="0"/>
              <a:ea typeface="IBM Plex Sans" charset="0"/>
              <a:cs typeface="IBM Plex Sans" charset="0"/>
            </a:endParaRPr>
          </a:p>
        </p:txBody>
      </p:sp>
      <p:sp>
        <p:nvSpPr>
          <p:cNvPr id="18" name="Text 16"/>
          <p:cNvSpPr/>
          <p:nvPr/>
        </p:nvSpPr>
        <p:spPr>
          <a:xfrm>
            <a:off x="5667248" y="4947921"/>
            <a:ext cx="1536192"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5CBFA"/>
                </a:solidFill>
                <a:latin typeface="JetBrains Mono" pitchFamily="49" charset="0"/>
                <a:ea typeface="JetBrains Mono" pitchFamily="49" charset="-122"/>
                <a:cs typeface="JetBrains Mono" pitchFamily="49" charset="-120"/>
              </a:rPr>
              <a:t>src/lib/engine</a:t>
            </a:r>
            <a:endParaRPr lang="en-US" sz="1200" dirty="0">
              <a:latin typeface="JetBrains Mono" charset="0"/>
              <a:ea typeface="JetBrains Mono" charset="0"/>
              <a:cs typeface="JetBrains Mono" charset="0"/>
            </a:endParaRPr>
          </a:p>
        </p:txBody>
      </p:sp>
      <p:sp>
        <p:nvSpPr>
          <p:cNvPr id="19" name="Text 17"/>
          <p:cNvSpPr/>
          <p:nvPr/>
        </p:nvSpPr>
        <p:spPr>
          <a:xfrm>
            <a:off x="1026160" y="5212079"/>
            <a:ext cx="63779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6FA"/>
                </a:solidFill>
                <a:latin typeface="IBM Plex Sans" pitchFamily="34" charset="0"/>
                <a:ea typeface="IBM Plex Sans" pitchFamily="34" charset="-122"/>
                <a:cs typeface="IBM Plex Sans" pitchFamily="34" charset="-120"/>
              </a:rPr>
              <a:t>Plain TypeScript, no React imports: grammar → sets → automata → tables → diagnoses</a:t>
            </a:r>
            <a:endParaRPr lang="en-US" sz="1200" dirty="0">
              <a:latin typeface="IBM Plex Sans" charset="0"/>
              <a:ea typeface="IBM Plex Sans" charset="0"/>
              <a:cs typeface="IBM Plex Sans" charset="0"/>
            </a:endParaRPr>
          </a:p>
        </p:txBody>
      </p:sp>
      <p:sp>
        <p:nvSpPr>
          <p:cNvPr id="20" name="Shape 18"/>
          <p:cNvSpPr/>
          <p:nvPr/>
        </p:nvSpPr>
        <p:spPr>
          <a:xfrm>
            <a:off x="7823200" y="1967229"/>
            <a:ext cx="3556000" cy="0"/>
          </a:xfrm>
          <a:prstGeom prst="line">
            <a:avLst/>
          </a:prstGeom>
          <a:noFill/>
          <a:ln w="12700">
            <a:solidFill>
              <a:srgbClr val="FFA657"/>
            </a:solidFill>
            <a:prstDash val="solid"/>
          </a:ln>
        </p:spPr>
      </p:sp>
      <p:sp>
        <p:nvSpPr>
          <p:cNvPr id="21" name="Text 19"/>
          <p:cNvSpPr/>
          <p:nvPr/>
        </p:nvSpPr>
        <p:spPr>
          <a:xfrm>
            <a:off x="7823200" y="2021842"/>
            <a:ext cx="366268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E6EDF3"/>
                </a:solidFill>
                <a:latin typeface="IBM Plex Sans" pitchFamily="34" charset="0"/>
                <a:ea typeface="IBM Plex Sans" pitchFamily="34" charset="-122"/>
                <a:cs typeface="IBM Plex Sans" pitchFamily="34" charset="-120"/>
              </a:rPr>
              <a:t>Only input is saved</a:t>
            </a:r>
            <a:endParaRPr lang="en-US" sz="1600" dirty="0">
              <a:latin typeface="IBM Plex Sans" charset="0"/>
              <a:ea typeface="IBM Plex Sans" charset="0"/>
              <a:cs typeface="IBM Plex Sans" charset="0"/>
            </a:endParaRPr>
          </a:p>
        </p:txBody>
      </p:sp>
      <p:sp>
        <p:nvSpPr>
          <p:cNvPr id="22" name="Text 20"/>
          <p:cNvSpPr/>
          <p:nvPr/>
        </p:nvSpPr>
        <p:spPr>
          <a:xfrm>
            <a:off x="7823200" y="2352042"/>
            <a:ext cx="3662680"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FC8D2"/>
                </a:solidFill>
                <a:latin typeface="IBM Plex Sans" pitchFamily="34" charset="0"/>
                <a:ea typeface="IBM Plex Sans" pitchFamily="34" charset="-122"/>
                <a:cs typeface="IBM Plex Sans" pitchFamily="34" charset="-120"/>
              </a:rPr>
              <a:t>Grammar text, start symbol, input string and preferences. Every parser artefact is recomputed from them.</a:t>
            </a:r>
            <a:endParaRPr lang="en-US" sz="1200" dirty="0">
              <a:latin typeface="IBM Plex Sans" charset="0"/>
              <a:ea typeface="IBM Plex Sans" charset="0"/>
              <a:cs typeface="IBM Plex Sans" charset="0"/>
            </a:endParaRPr>
          </a:p>
        </p:txBody>
      </p:sp>
      <p:sp>
        <p:nvSpPr>
          <p:cNvPr id="23" name="Shape 21"/>
          <p:cNvSpPr/>
          <p:nvPr/>
        </p:nvSpPr>
        <p:spPr>
          <a:xfrm>
            <a:off x="7823200" y="3247392"/>
            <a:ext cx="3556000" cy="0"/>
          </a:xfrm>
          <a:prstGeom prst="line">
            <a:avLst/>
          </a:prstGeom>
          <a:noFill/>
          <a:ln w="12700">
            <a:solidFill>
              <a:srgbClr val="FFA657"/>
            </a:solidFill>
            <a:prstDash val="solid"/>
          </a:ln>
        </p:spPr>
      </p:sp>
      <p:sp>
        <p:nvSpPr>
          <p:cNvPr id="24" name="Text 22"/>
          <p:cNvSpPr/>
          <p:nvPr/>
        </p:nvSpPr>
        <p:spPr>
          <a:xfrm>
            <a:off x="7823200" y="3302000"/>
            <a:ext cx="366268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E6EDF3"/>
                </a:solidFill>
                <a:latin typeface="IBM Plex Sans" pitchFamily="34" charset="0"/>
                <a:ea typeface="IBM Plex Sans" pitchFamily="34" charset="-122"/>
                <a:cs typeface="IBM Plex Sans" pitchFamily="34" charset="-120"/>
              </a:rPr>
              <a:t>Stack</a:t>
            </a:r>
            <a:endParaRPr lang="en-US" sz="1600" dirty="0">
              <a:latin typeface="IBM Plex Sans" charset="0"/>
              <a:ea typeface="IBM Plex Sans" charset="0"/>
              <a:cs typeface="IBM Plex Sans" charset="0"/>
            </a:endParaRPr>
          </a:p>
        </p:txBody>
      </p:sp>
      <p:sp>
        <p:nvSpPr>
          <p:cNvPr id="25" name="Text 23"/>
          <p:cNvSpPr/>
          <p:nvPr/>
        </p:nvSpPr>
        <p:spPr>
          <a:xfrm>
            <a:off x="7823200" y="3632200"/>
            <a:ext cx="366268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FC8D2"/>
                </a:solidFill>
                <a:latin typeface="IBM Plex Sans" pitchFamily="34" charset="0"/>
                <a:ea typeface="IBM Plex Sans" pitchFamily="34" charset="-122"/>
                <a:cs typeface="IBM Plex Sans" pitchFamily="34" charset="-120"/>
              </a:rPr>
              <a:t>Next.js 16, React 19, TypeScript, Tailwind CSS 4, zustand, Vitest</a:t>
            </a:r>
            <a:endParaRPr lang="en-US" sz="1200" dirty="0">
              <a:latin typeface="IBM Plex Sans" charset="0"/>
              <a:ea typeface="IBM Plex Sans" charset="0"/>
              <a:cs typeface="IBM Plex Sans"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953800"/>
                </a:solidFill>
                <a:latin typeface="JetBrains Mono" pitchFamily="49" charset="0"/>
                <a:ea typeface="JetBrains Mono" pitchFamily="49" charset="-122"/>
                <a:cs typeface="JetBrains Mono" pitchFamily="49" charset="-120"/>
              </a:rPr>
              <a:t>TESTING</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153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F2328"/>
                </a:solidFill>
                <a:latin typeface="IBM Plex Sans" pitchFamily="34" charset="0"/>
                <a:ea typeface="IBM Plex Sans" pitchFamily="34" charset="-122"/>
                <a:cs typeface="IBM Plex Sans" pitchFamily="34" charset="-120"/>
              </a:rPr>
              <a:t>Checked against the textbook</a:t>
            </a:r>
            <a:endParaRPr lang="en-US" sz="3600" dirty="0">
              <a:latin typeface="IBM Plex Sans" charset="0"/>
              <a:ea typeface="IBM Plex Sans" charset="0"/>
              <a:cs typeface="IBM Plex Sans" charset="0"/>
            </a:endParaRPr>
          </a:p>
        </p:txBody>
      </p:sp>
      <p:sp>
        <p:nvSpPr>
          <p:cNvPr id="4" name="Shape 2"/>
          <p:cNvSpPr/>
          <p:nvPr/>
        </p:nvSpPr>
        <p:spPr>
          <a:xfrm>
            <a:off x="815975" y="1964054"/>
            <a:ext cx="5175250" cy="1885950"/>
          </a:xfrm>
          <a:prstGeom prst="roundRect">
            <a:avLst>
              <a:gd name="adj" fmla="val 5219"/>
            </a:avLst>
          </a:prstGeom>
          <a:solidFill>
            <a:srgbClr val="FDFEFF"/>
          </a:solidFill>
          <a:ln w="6350">
            <a:solidFill>
              <a:srgbClr val="D0D7DE"/>
            </a:solidFill>
            <a:prstDash val="solid"/>
          </a:ln>
        </p:spPr>
      </p:sp>
      <p:sp>
        <p:nvSpPr>
          <p:cNvPr id="5" name="Text 3"/>
          <p:cNvSpPr/>
          <p:nvPr/>
        </p:nvSpPr>
        <p:spPr>
          <a:xfrm>
            <a:off x="1122680" y="2194564"/>
            <a:ext cx="4698695" cy="825500"/>
          </a:xfrm>
          <a:prstGeom prst="rect">
            <a:avLst/>
          </a:prstGeom>
          <a:noFill/>
          <a:ln/>
        </p:spPr>
        <p:txBody>
          <a:bodyPr wrap="square" lIns="0" tIns="0" rIns="0" bIns="0" rtlCol="0" anchor="t">
            <a:normAutofit/>
          </a:bodyPr>
          <a:lstStyle/>
          <a:p>
            <a:pPr algn="l" indent="0" marL="0">
              <a:lnSpc>
                <a:spcPts val="6300"/>
              </a:lnSpc>
              <a:buNone/>
            </a:pPr>
            <a:r>
              <a:rPr lang="en-US" sz="6000" b="1" spc="-100" kern="0" dirty="0">
                <a:solidFill>
                  <a:srgbClr val="0969DA"/>
                </a:solidFill>
                <a:latin typeface="IBM Plex Sans" pitchFamily="34" charset="0"/>
                <a:ea typeface="IBM Plex Sans" pitchFamily="34" charset="-122"/>
                <a:cs typeface="IBM Plex Sans" pitchFamily="34" charset="-120"/>
              </a:rPr>
              <a:t>82</a:t>
            </a:r>
            <a:endParaRPr lang="en-US" sz="6000" dirty="0">
              <a:latin typeface="IBM Plex Sans" charset="0"/>
              <a:ea typeface="IBM Plex Sans" charset="0"/>
              <a:cs typeface="IBM Plex Sans" charset="0"/>
            </a:endParaRPr>
          </a:p>
        </p:txBody>
      </p:sp>
      <p:sp>
        <p:nvSpPr>
          <p:cNvPr id="6" name="Text 4"/>
          <p:cNvSpPr/>
          <p:nvPr/>
        </p:nvSpPr>
        <p:spPr>
          <a:xfrm>
            <a:off x="1122680" y="3070864"/>
            <a:ext cx="4698695"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57606A"/>
                </a:solidFill>
                <a:latin typeface="IBM Plex Sans" pitchFamily="34" charset="0"/>
                <a:ea typeface="IBM Plex Sans" pitchFamily="34" charset="-122"/>
                <a:cs typeface="IBM Plex Sans" pitchFamily="34" charset="-120"/>
              </a:rPr>
              <a:t>tests in the engine and studio suite, run with Vitest</a:t>
            </a:r>
            <a:endParaRPr lang="en-US" sz="1600" dirty="0">
              <a:latin typeface="IBM Plex Sans" charset="0"/>
              <a:ea typeface="IBM Plex Sans" charset="0"/>
              <a:cs typeface="IBM Plex Sans" charset="0"/>
            </a:endParaRPr>
          </a:p>
        </p:txBody>
      </p:sp>
      <p:sp>
        <p:nvSpPr>
          <p:cNvPr id="7" name="Shape 5"/>
          <p:cNvSpPr/>
          <p:nvPr/>
        </p:nvSpPr>
        <p:spPr>
          <a:xfrm>
            <a:off x="6200775" y="1964054"/>
            <a:ext cx="5175250" cy="1885950"/>
          </a:xfrm>
          <a:prstGeom prst="roundRect">
            <a:avLst>
              <a:gd name="adj" fmla="val 5219"/>
            </a:avLst>
          </a:prstGeom>
          <a:solidFill>
            <a:srgbClr val="FDFEFF"/>
          </a:solidFill>
          <a:ln w="6350">
            <a:solidFill>
              <a:srgbClr val="D0D7DE"/>
            </a:solidFill>
            <a:prstDash val="solid"/>
          </a:ln>
        </p:spPr>
      </p:sp>
      <p:sp>
        <p:nvSpPr>
          <p:cNvPr id="8" name="Text 6"/>
          <p:cNvSpPr/>
          <p:nvPr/>
        </p:nvSpPr>
        <p:spPr>
          <a:xfrm>
            <a:off x="6507480" y="2194564"/>
            <a:ext cx="4698695" cy="825500"/>
          </a:xfrm>
          <a:prstGeom prst="rect">
            <a:avLst/>
          </a:prstGeom>
          <a:noFill/>
          <a:ln/>
        </p:spPr>
        <p:txBody>
          <a:bodyPr wrap="square" lIns="0" tIns="0" rIns="0" bIns="0" rtlCol="0" anchor="t">
            <a:normAutofit/>
          </a:bodyPr>
          <a:lstStyle/>
          <a:p>
            <a:pPr algn="l" indent="0" marL="0">
              <a:lnSpc>
                <a:spcPts val="6300"/>
              </a:lnSpc>
              <a:buNone/>
            </a:pPr>
            <a:r>
              <a:rPr lang="en-US" sz="6000" b="1" spc="-100" kern="0" dirty="0">
                <a:solidFill>
                  <a:srgbClr val="0969DA"/>
                </a:solidFill>
                <a:latin typeface="IBM Plex Sans" pitchFamily="34" charset="0"/>
                <a:ea typeface="IBM Plex Sans" pitchFamily="34" charset="-122"/>
                <a:cs typeface="IBM Plex Sans" pitchFamily="34" charset="-120"/>
              </a:rPr>
              <a:t>12</a:t>
            </a:r>
            <a:endParaRPr lang="en-US" sz="6000" dirty="0">
              <a:latin typeface="IBM Plex Sans" charset="0"/>
              <a:ea typeface="IBM Plex Sans" charset="0"/>
              <a:cs typeface="IBM Plex Sans" charset="0"/>
            </a:endParaRPr>
          </a:p>
        </p:txBody>
      </p:sp>
      <p:sp>
        <p:nvSpPr>
          <p:cNvPr id="9" name="Text 7"/>
          <p:cNvSpPr/>
          <p:nvPr/>
        </p:nvSpPr>
        <p:spPr>
          <a:xfrm>
            <a:off x="6507480" y="3070864"/>
            <a:ext cx="4698695"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57606A"/>
                </a:solidFill>
                <a:latin typeface="IBM Plex Sans" pitchFamily="34" charset="0"/>
                <a:ea typeface="IBM Plex Sans" pitchFamily="34" charset="-122"/>
                <a:cs typeface="IBM Plex Sans" pitchFamily="34" charset="-120"/>
              </a:rPr>
              <a:t>states in the exact SLR table of Dragon book Fig. 4.37</a:t>
            </a:r>
            <a:endParaRPr lang="en-US" sz="1600" dirty="0">
              <a:latin typeface="IBM Plex Sans" charset="0"/>
              <a:ea typeface="IBM Plex Sans" charset="0"/>
              <a:cs typeface="IBM Plex Sans" charset="0"/>
            </a:endParaRPr>
          </a:p>
        </p:txBody>
      </p:sp>
      <p:sp>
        <p:nvSpPr>
          <p:cNvPr id="10" name="Shape 8"/>
          <p:cNvSpPr/>
          <p:nvPr/>
        </p:nvSpPr>
        <p:spPr>
          <a:xfrm>
            <a:off x="815975" y="4059554"/>
            <a:ext cx="5175250" cy="1611630"/>
          </a:xfrm>
          <a:prstGeom prst="roundRect">
            <a:avLst>
              <a:gd name="adj" fmla="val 6107"/>
            </a:avLst>
          </a:prstGeom>
          <a:solidFill>
            <a:srgbClr val="FDFEFF"/>
          </a:solidFill>
          <a:ln w="6350">
            <a:solidFill>
              <a:srgbClr val="D0D7DE"/>
            </a:solidFill>
            <a:prstDash val="solid"/>
          </a:ln>
        </p:spPr>
      </p:sp>
      <p:sp>
        <p:nvSpPr>
          <p:cNvPr id="11" name="Text 9"/>
          <p:cNvSpPr/>
          <p:nvPr/>
        </p:nvSpPr>
        <p:spPr>
          <a:xfrm>
            <a:off x="1122680" y="4290064"/>
            <a:ext cx="4698695" cy="825500"/>
          </a:xfrm>
          <a:prstGeom prst="rect">
            <a:avLst/>
          </a:prstGeom>
          <a:noFill/>
          <a:ln/>
        </p:spPr>
        <p:txBody>
          <a:bodyPr wrap="square" lIns="0" tIns="0" rIns="0" bIns="0" rtlCol="0" anchor="t">
            <a:normAutofit/>
          </a:bodyPr>
          <a:lstStyle/>
          <a:p>
            <a:pPr algn="l" indent="0" marL="0">
              <a:lnSpc>
                <a:spcPts val="6300"/>
              </a:lnSpc>
              <a:buNone/>
            </a:pPr>
            <a:r>
              <a:rPr lang="en-US" sz="6000" b="1" spc="-100" kern="0" dirty="0">
                <a:solidFill>
                  <a:srgbClr val="0969DA"/>
                </a:solidFill>
                <a:latin typeface="IBM Plex Sans" pitchFamily="34" charset="0"/>
                <a:ea typeface="IBM Plex Sans" pitchFamily="34" charset="-122"/>
                <a:cs typeface="IBM Plex Sans" pitchFamily="34" charset="-120"/>
              </a:rPr>
              <a:t>10 → 7</a:t>
            </a:r>
            <a:endParaRPr lang="en-US" sz="6000" dirty="0">
              <a:latin typeface="IBM Plex Sans" charset="0"/>
              <a:ea typeface="IBM Plex Sans" charset="0"/>
              <a:cs typeface="IBM Plex Sans" charset="0"/>
            </a:endParaRPr>
          </a:p>
        </p:txBody>
      </p:sp>
      <p:sp>
        <p:nvSpPr>
          <p:cNvPr id="12" name="Text 10"/>
          <p:cNvSpPr/>
          <p:nvPr/>
        </p:nvSpPr>
        <p:spPr>
          <a:xfrm>
            <a:off x="1122680" y="5166364"/>
            <a:ext cx="4698695"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57606A"/>
                </a:solidFill>
                <a:latin typeface="IBM Plex Sans" pitchFamily="34" charset="0"/>
                <a:ea typeface="IBM Plex Sans" pitchFamily="34" charset="-122"/>
                <a:cs typeface="IBM Plex Sans" pitchFamily="34" charset="-120"/>
              </a:rPr>
              <a:t>CLR states merged into LALR for S → C C</a:t>
            </a:r>
            <a:endParaRPr lang="en-US" sz="1600" dirty="0">
              <a:latin typeface="IBM Plex Sans" charset="0"/>
              <a:ea typeface="IBM Plex Sans" charset="0"/>
              <a:cs typeface="IBM Plex Sans" charset="0"/>
            </a:endParaRPr>
          </a:p>
        </p:txBody>
      </p:sp>
      <p:sp>
        <p:nvSpPr>
          <p:cNvPr id="13" name="Shape 11"/>
          <p:cNvSpPr/>
          <p:nvPr/>
        </p:nvSpPr>
        <p:spPr>
          <a:xfrm>
            <a:off x="6200775" y="4059554"/>
            <a:ext cx="5175250" cy="1611630"/>
          </a:xfrm>
          <a:prstGeom prst="roundRect">
            <a:avLst>
              <a:gd name="adj" fmla="val 6107"/>
            </a:avLst>
          </a:prstGeom>
          <a:solidFill>
            <a:srgbClr val="FDFEFF"/>
          </a:solidFill>
          <a:ln w="6350">
            <a:solidFill>
              <a:srgbClr val="D0D7DE"/>
            </a:solidFill>
            <a:prstDash val="solid"/>
          </a:ln>
        </p:spPr>
      </p:sp>
      <p:sp>
        <p:nvSpPr>
          <p:cNvPr id="14" name="Text 12"/>
          <p:cNvSpPr/>
          <p:nvPr/>
        </p:nvSpPr>
        <p:spPr>
          <a:xfrm>
            <a:off x="6507480" y="4290064"/>
            <a:ext cx="4698695" cy="825500"/>
          </a:xfrm>
          <a:prstGeom prst="rect">
            <a:avLst/>
          </a:prstGeom>
          <a:noFill/>
          <a:ln/>
        </p:spPr>
        <p:txBody>
          <a:bodyPr wrap="square" lIns="0" tIns="0" rIns="0" bIns="0" rtlCol="0" anchor="t">
            <a:normAutofit/>
          </a:bodyPr>
          <a:lstStyle/>
          <a:p>
            <a:pPr algn="l" indent="0" marL="0">
              <a:lnSpc>
                <a:spcPts val="6300"/>
              </a:lnSpc>
              <a:buNone/>
            </a:pPr>
            <a:r>
              <a:rPr lang="en-US" sz="6000" b="1" spc="-100" kern="0" dirty="0">
                <a:solidFill>
                  <a:srgbClr val="0969DA"/>
                </a:solidFill>
                <a:latin typeface="IBM Plex Sans" pitchFamily="34" charset="0"/>
                <a:ea typeface="IBM Plex Sans" pitchFamily="34" charset="-122"/>
                <a:cs typeface="IBM Plex Sans" pitchFamily="34" charset="-120"/>
              </a:rPr>
              <a:t>14 / 10</a:t>
            </a:r>
            <a:endParaRPr lang="en-US" sz="6000" dirty="0">
              <a:latin typeface="IBM Plex Sans" charset="0"/>
              <a:ea typeface="IBM Plex Sans" charset="0"/>
              <a:cs typeface="IBM Plex Sans" charset="0"/>
            </a:endParaRPr>
          </a:p>
        </p:txBody>
      </p:sp>
      <p:sp>
        <p:nvSpPr>
          <p:cNvPr id="15" name="Text 13"/>
          <p:cNvSpPr/>
          <p:nvPr/>
        </p:nvSpPr>
        <p:spPr>
          <a:xfrm>
            <a:off x="6507480" y="5166364"/>
            <a:ext cx="4698695"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57606A"/>
                </a:solidFill>
                <a:latin typeface="IBM Plex Sans" pitchFamily="34" charset="0"/>
                <a:ea typeface="IBM Plex Sans" pitchFamily="34" charset="-122"/>
                <a:cs typeface="IBM Plex Sans" pitchFamily="34" charset="-120"/>
              </a:rPr>
              <a:t>LR(1) / LALR states for S → L = R | R</a:t>
            </a:r>
            <a:endParaRPr lang="en-US" sz="1600" dirty="0">
              <a:latin typeface="IBM Plex Sans" charset="0"/>
              <a:ea typeface="IBM Plex Sans" charset="0"/>
              <a:cs typeface="IBM Plex Sans"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50A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E2C4"/>
                </a:solidFill>
                <a:latin typeface="JetBrains Mono" pitchFamily="49" charset="0"/>
                <a:ea typeface="JetBrains Mono" pitchFamily="49" charset="-122"/>
                <a:cs typeface="JetBrains Mono" pitchFamily="49" charset="-120"/>
              </a:rPr>
              <a:t>LIVE DEMO</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153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6F8FA"/>
                </a:solidFill>
                <a:latin typeface="IBM Plex Sans" pitchFamily="34" charset="0"/>
                <a:ea typeface="IBM Plex Sans" pitchFamily="34" charset="-122"/>
                <a:cs typeface="IBM Plex Sans" pitchFamily="34" charset="-120"/>
              </a:rPr>
              <a:t>From grammar to accepted input</a:t>
            </a:r>
            <a:endParaRPr lang="en-US" sz="3600" dirty="0">
              <a:latin typeface="IBM Plex Sans" charset="0"/>
              <a:ea typeface="IBM Plex Sans" charset="0"/>
              <a:cs typeface="IBM Plex Sans" charset="0"/>
            </a:endParaRPr>
          </a:p>
        </p:txBody>
      </p:sp>
      <p:sp>
        <p:nvSpPr>
          <p:cNvPr id="4" name="Shape 2"/>
          <p:cNvSpPr/>
          <p:nvPr/>
        </p:nvSpPr>
        <p:spPr>
          <a:xfrm>
            <a:off x="812800" y="1964054"/>
            <a:ext cx="5080000" cy="0"/>
          </a:xfrm>
          <a:prstGeom prst="line">
            <a:avLst/>
          </a:prstGeom>
          <a:noFill/>
          <a:ln w="6350">
            <a:solidFill>
              <a:srgbClr val="4A80C8"/>
            </a:solidFill>
            <a:prstDash val="solid"/>
          </a:ln>
        </p:spPr>
      </p:sp>
      <p:sp>
        <p:nvSpPr>
          <p:cNvPr id="5" name="Text 3"/>
          <p:cNvSpPr/>
          <p:nvPr/>
        </p:nvSpPr>
        <p:spPr>
          <a:xfrm>
            <a:off x="812800" y="2092964"/>
            <a:ext cx="21844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E2C4"/>
                </a:solidFill>
                <a:latin typeface="JetBrains Mono" pitchFamily="49" charset="0"/>
                <a:ea typeface="JetBrains Mono" pitchFamily="49" charset="-122"/>
                <a:cs typeface="JetBrains Mono" pitchFamily="49" charset="-120"/>
              </a:rPr>
              <a:t>1</a:t>
            </a:r>
            <a:endParaRPr lang="en-US" sz="2200" dirty="0">
              <a:latin typeface="JetBrains Mono" charset="0"/>
              <a:ea typeface="JetBrains Mono" charset="0"/>
              <a:cs typeface="JetBrains Mono" charset="0"/>
            </a:endParaRPr>
          </a:p>
        </p:txBody>
      </p:sp>
      <p:sp>
        <p:nvSpPr>
          <p:cNvPr id="6" name="Text 4"/>
          <p:cNvSpPr/>
          <p:nvPr/>
        </p:nvSpPr>
        <p:spPr>
          <a:xfrm>
            <a:off x="1158240" y="2169164"/>
            <a:ext cx="4876597"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8FA"/>
                </a:solidFill>
                <a:latin typeface="IBM Plex Sans" pitchFamily="34" charset="0"/>
                <a:ea typeface="IBM Plex Sans" pitchFamily="34" charset="-122"/>
                <a:cs typeface="IBM Plex Sans" pitchFamily="34" charset="-120"/>
              </a:rPr>
              <a:t>Load the expression sample grammar</a:t>
            </a:r>
            <a:endParaRPr lang="en-US" sz="1600" dirty="0">
              <a:latin typeface="IBM Plex Sans" charset="0"/>
              <a:ea typeface="IBM Plex Sans" charset="0"/>
              <a:cs typeface="IBM Plex Sans" charset="0"/>
            </a:endParaRPr>
          </a:p>
        </p:txBody>
      </p:sp>
      <p:sp>
        <p:nvSpPr>
          <p:cNvPr id="7" name="Shape 5"/>
          <p:cNvSpPr/>
          <p:nvPr/>
        </p:nvSpPr>
        <p:spPr>
          <a:xfrm>
            <a:off x="6299200" y="1964054"/>
            <a:ext cx="5080000" cy="0"/>
          </a:xfrm>
          <a:prstGeom prst="line">
            <a:avLst/>
          </a:prstGeom>
          <a:noFill/>
          <a:ln w="6350">
            <a:solidFill>
              <a:srgbClr val="4A80C8"/>
            </a:solidFill>
            <a:prstDash val="solid"/>
          </a:ln>
        </p:spPr>
      </p:sp>
      <p:sp>
        <p:nvSpPr>
          <p:cNvPr id="8" name="Text 6"/>
          <p:cNvSpPr/>
          <p:nvPr/>
        </p:nvSpPr>
        <p:spPr>
          <a:xfrm>
            <a:off x="6299200" y="2092964"/>
            <a:ext cx="21844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E2C4"/>
                </a:solidFill>
                <a:latin typeface="JetBrains Mono" pitchFamily="49" charset="0"/>
                <a:ea typeface="JetBrains Mono" pitchFamily="49" charset="-122"/>
                <a:cs typeface="JetBrains Mono" pitchFamily="49" charset="-120"/>
              </a:rPr>
              <a:t>4</a:t>
            </a:r>
            <a:endParaRPr lang="en-US" sz="2200" dirty="0">
              <a:latin typeface="JetBrains Mono" charset="0"/>
              <a:ea typeface="JetBrains Mono" charset="0"/>
              <a:cs typeface="JetBrains Mono" charset="0"/>
            </a:endParaRPr>
          </a:p>
        </p:txBody>
      </p:sp>
      <p:sp>
        <p:nvSpPr>
          <p:cNvPr id="9" name="Text 7"/>
          <p:cNvSpPr/>
          <p:nvPr/>
        </p:nvSpPr>
        <p:spPr>
          <a:xfrm>
            <a:off x="6644640" y="2169164"/>
            <a:ext cx="4876597"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8FA"/>
                </a:solidFill>
                <a:latin typeface="IBM Plex Sans" pitchFamily="34" charset="0"/>
                <a:ea typeface="IBM Plex Sans" pitchFamily="34" charset="-122"/>
                <a:cs typeface="IBM Plex Sans" pitchFamily="34" charset="-120"/>
              </a:rPr>
              <a:t>Click a reduce cell to see the item behind it</a:t>
            </a:r>
            <a:endParaRPr lang="en-US" sz="1600" dirty="0">
              <a:latin typeface="IBM Plex Sans" charset="0"/>
              <a:ea typeface="IBM Plex Sans" charset="0"/>
              <a:cs typeface="IBM Plex Sans" charset="0"/>
            </a:endParaRPr>
          </a:p>
        </p:txBody>
      </p:sp>
      <p:sp>
        <p:nvSpPr>
          <p:cNvPr id="10" name="Shape 8"/>
          <p:cNvSpPr/>
          <p:nvPr/>
        </p:nvSpPr>
        <p:spPr>
          <a:xfrm>
            <a:off x="812800" y="2665096"/>
            <a:ext cx="5080000" cy="0"/>
          </a:xfrm>
          <a:prstGeom prst="line">
            <a:avLst/>
          </a:prstGeom>
          <a:noFill/>
          <a:ln w="6350">
            <a:solidFill>
              <a:srgbClr val="4A80C8"/>
            </a:solidFill>
            <a:prstDash val="solid"/>
          </a:ln>
        </p:spPr>
      </p:sp>
      <p:sp>
        <p:nvSpPr>
          <p:cNvPr id="11" name="Text 9"/>
          <p:cNvSpPr/>
          <p:nvPr/>
        </p:nvSpPr>
        <p:spPr>
          <a:xfrm>
            <a:off x="812800" y="2794000"/>
            <a:ext cx="21844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E2C4"/>
                </a:solidFill>
                <a:latin typeface="JetBrains Mono" pitchFamily="49" charset="0"/>
                <a:ea typeface="JetBrains Mono" pitchFamily="49" charset="-122"/>
                <a:cs typeface="JetBrains Mono" pitchFamily="49" charset="-120"/>
              </a:rPr>
              <a:t>2</a:t>
            </a:r>
            <a:endParaRPr lang="en-US" sz="2200" dirty="0">
              <a:latin typeface="JetBrains Mono" charset="0"/>
              <a:ea typeface="JetBrains Mono" charset="0"/>
              <a:cs typeface="JetBrains Mono" charset="0"/>
            </a:endParaRPr>
          </a:p>
        </p:txBody>
      </p:sp>
      <p:sp>
        <p:nvSpPr>
          <p:cNvPr id="12" name="Text 10"/>
          <p:cNvSpPr/>
          <p:nvPr/>
        </p:nvSpPr>
        <p:spPr>
          <a:xfrm>
            <a:off x="1158240" y="2870200"/>
            <a:ext cx="4876597"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8FA"/>
                </a:solidFill>
                <a:latin typeface="IBM Plex Sans" pitchFamily="34" charset="0"/>
                <a:ea typeface="IBM Plex Sans" pitchFamily="34" charset="-122"/>
                <a:cs typeface="IBM Plex Sans" pitchFamily="34" charset="-120"/>
              </a:rPr>
              <a:t>Ask why ) is in FOLLOW(T)</a:t>
            </a:r>
            <a:endParaRPr lang="en-US" sz="1600" dirty="0">
              <a:latin typeface="IBM Plex Sans" charset="0"/>
              <a:ea typeface="IBM Plex Sans" charset="0"/>
              <a:cs typeface="IBM Plex Sans" charset="0"/>
            </a:endParaRPr>
          </a:p>
        </p:txBody>
      </p:sp>
      <p:sp>
        <p:nvSpPr>
          <p:cNvPr id="13" name="Shape 11"/>
          <p:cNvSpPr/>
          <p:nvPr/>
        </p:nvSpPr>
        <p:spPr>
          <a:xfrm>
            <a:off x="6299200" y="2665096"/>
            <a:ext cx="5080000" cy="0"/>
          </a:xfrm>
          <a:prstGeom prst="line">
            <a:avLst/>
          </a:prstGeom>
          <a:noFill/>
          <a:ln w="6350">
            <a:solidFill>
              <a:srgbClr val="4A80C8"/>
            </a:solidFill>
            <a:prstDash val="solid"/>
          </a:ln>
        </p:spPr>
      </p:sp>
      <p:sp>
        <p:nvSpPr>
          <p:cNvPr id="14" name="Text 12"/>
          <p:cNvSpPr/>
          <p:nvPr/>
        </p:nvSpPr>
        <p:spPr>
          <a:xfrm>
            <a:off x="6299200" y="2794000"/>
            <a:ext cx="21844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E2C4"/>
                </a:solidFill>
                <a:latin typeface="JetBrains Mono" pitchFamily="49" charset="0"/>
                <a:ea typeface="JetBrains Mono" pitchFamily="49" charset="-122"/>
                <a:cs typeface="JetBrains Mono" pitchFamily="49" charset="-120"/>
              </a:rPr>
              <a:t>5</a:t>
            </a:r>
            <a:endParaRPr lang="en-US" sz="2200" dirty="0">
              <a:latin typeface="JetBrains Mono" charset="0"/>
              <a:ea typeface="JetBrains Mono" charset="0"/>
              <a:cs typeface="JetBrains Mono" charset="0"/>
            </a:endParaRPr>
          </a:p>
        </p:txBody>
      </p:sp>
      <p:sp>
        <p:nvSpPr>
          <p:cNvPr id="15" name="Text 13"/>
          <p:cNvSpPr/>
          <p:nvPr/>
        </p:nvSpPr>
        <p:spPr>
          <a:xfrm>
            <a:off x="6644640" y="2870200"/>
            <a:ext cx="4876597"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8FA"/>
                </a:solidFill>
                <a:latin typeface="IBM Plex Sans" pitchFamily="34" charset="0"/>
                <a:ea typeface="IBM Plex Sans" pitchFamily="34" charset="-122"/>
                <a:cs typeface="IBM Plex Sans" pitchFamily="34" charset="-120"/>
              </a:rPr>
              <a:t>Parse id * id + id and watch the derivation fill in</a:t>
            </a:r>
            <a:endParaRPr lang="en-US" sz="1600" dirty="0">
              <a:latin typeface="IBM Plex Sans" charset="0"/>
              <a:ea typeface="IBM Plex Sans" charset="0"/>
              <a:cs typeface="IBM Plex Sans" charset="0"/>
            </a:endParaRPr>
          </a:p>
        </p:txBody>
      </p:sp>
      <p:sp>
        <p:nvSpPr>
          <p:cNvPr id="16" name="Shape 14"/>
          <p:cNvSpPr/>
          <p:nvPr/>
        </p:nvSpPr>
        <p:spPr>
          <a:xfrm>
            <a:off x="812800" y="3366139"/>
            <a:ext cx="5080000" cy="0"/>
          </a:xfrm>
          <a:prstGeom prst="line">
            <a:avLst/>
          </a:prstGeom>
          <a:noFill/>
          <a:ln w="6350">
            <a:solidFill>
              <a:srgbClr val="4A80C8"/>
            </a:solidFill>
            <a:prstDash val="solid"/>
          </a:ln>
        </p:spPr>
      </p:sp>
      <p:sp>
        <p:nvSpPr>
          <p:cNvPr id="17" name="Text 15"/>
          <p:cNvSpPr/>
          <p:nvPr/>
        </p:nvSpPr>
        <p:spPr>
          <a:xfrm>
            <a:off x="812800" y="3495042"/>
            <a:ext cx="21844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E2C4"/>
                </a:solidFill>
                <a:latin typeface="JetBrains Mono" pitchFamily="49" charset="0"/>
                <a:ea typeface="JetBrains Mono" pitchFamily="49" charset="-122"/>
                <a:cs typeface="JetBrains Mono" pitchFamily="49" charset="-120"/>
              </a:rPr>
              <a:t>3</a:t>
            </a:r>
            <a:endParaRPr lang="en-US" sz="2200" dirty="0">
              <a:latin typeface="JetBrains Mono" charset="0"/>
              <a:ea typeface="JetBrains Mono" charset="0"/>
              <a:cs typeface="JetBrains Mono" charset="0"/>
            </a:endParaRPr>
          </a:p>
        </p:txBody>
      </p:sp>
      <p:sp>
        <p:nvSpPr>
          <p:cNvPr id="18" name="Text 16"/>
          <p:cNvSpPr/>
          <p:nvPr/>
        </p:nvSpPr>
        <p:spPr>
          <a:xfrm>
            <a:off x="1158240" y="3571242"/>
            <a:ext cx="4876597"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8FA"/>
                </a:solidFill>
                <a:latin typeface="IBM Plex Sans" pitchFamily="34" charset="0"/>
                <a:ea typeface="IBM Plex Sans" pitchFamily="34" charset="-122"/>
                <a:cs typeface="IBM Plex Sans" pitchFamily="34" charset="-120"/>
              </a:rPr>
              <a:t>Switch the automaton between LR(0), LR(1) and LALR(1)</a:t>
            </a:r>
            <a:endParaRPr lang="en-US" sz="1600" dirty="0">
              <a:latin typeface="IBM Plex Sans" charset="0"/>
              <a:ea typeface="IBM Plex Sans" charset="0"/>
              <a:cs typeface="IBM Plex Sans" charset="0"/>
            </a:endParaRPr>
          </a:p>
        </p:txBody>
      </p:sp>
      <p:sp>
        <p:nvSpPr>
          <p:cNvPr id="19" name="Shape 17"/>
          <p:cNvSpPr/>
          <p:nvPr/>
        </p:nvSpPr>
        <p:spPr>
          <a:xfrm>
            <a:off x="6299200" y="3366139"/>
            <a:ext cx="5080000" cy="0"/>
          </a:xfrm>
          <a:prstGeom prst="line">
            <a:avLst/>
          </a:prstGeom>
          <a:noFill/>
          <a:ln w="6350">
            <a:solidFill>
              <a:srgbClr val="4A80C8"/>
            </a:solidFill>
            <a:prstDash val="solid"/>
          </a:ln>
        </p:spPr>
      </p:sp>
      <p:sp>
        <p:nvSpPr>
          <p:cNvPr id="20" name="Text 18"/>
          <p:cNvSpPr/>
          <p:nvPr/>
        </p:nvSpPr>
        <p:spPr>
          <a:xfrm>
            <a:off x="6299200" y="3495042"/>
            <a:ext cx="21844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E2C4"/>
                </a:solidFill>
                <a:latin typeface="JetBrains Mono" pitchFamily="49" charset="0"/>
                <a:ea typeface="JetBrains Mono" pitchFamily="49" charset="-122"/>
                <a:cs typeface="JetBrains Mono" pitchFamily="49" charset="-120"/>
              </a:rPr>
              <a:t>6</a:t>
            </a:r>
            <a:endParaRPr lang="en-US" sz="2200" dirty="0">
              <a:latin typeface="JetBrains Mono" charset="0"/>
              <a:ea typeface="JetBrains Mono" charset="0"/>
              <a:cs typeface="JetBrains Mono" charset="0"/>
            </a:endParaRPr>
          </a:p>
        </p:txBody>
      </p:sp>
      <p:sp>
        <p:nvSpPr>
          <p:cNvPr id="21" name="Text 19"/>
          <p:cNvSpPr/>
          <p:nvPr/>
        </p:nvSpPr>
        <p:spPr>
          <a:xfrm>
            <a:off x="6644640" y="3571242"/>
            <a:ext cx="4876597"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8FA"/>
                </a:solidFill>
                <a:latin typeface="IBM Plex Sans" pitchFamily="34" charset="0"/>
                <a:ea typeface="IBM Plex Sans" pitchFamily="34" charset="-122"/>
                <a:cs typeface="IBM Plex Sans" pitchFamily="34" charset="-120"/>
              </a:rPr>
              <a:t>Load S → L = R | R and compare all three parsers</a:t>
            </a:r>
            <a:endParaRPr lang="en-US" sz="1600" dirty="0">
              <a:latin typeface="IBM Plex Sans" charset="0"/>
              <a:ea typeface="IBM Plex Sans" charset="0"/>
              <a:cs typeface="IBM Plex Sans" charset="0"/>
            </a:endParaRPr>
          </a:p>
        </p:txBody>
      </p:sp>
      <p:sp>
        <p:nvSpPr>
          <p:cNvPr id="22" name="Text 20"/>
          <p:cNvSpPr/>
          <p:nvPr/>
        </p:nvSpPr>
        <p:spPr>
          <a:xfrm>
            <a:off x="812800" y="44450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E6FA"/>
                </a:solidFill>
                <a:latin typeface="JetBrains Mono" pitchFamily="49" charset="0"/>
                <a:ea typeface="JetBrains Mono" pitchFamily="49" charset="-122"/>
                <a:cs typeface="JetBrains Mono" pitchFamily="49" charset="-120"/>
              </a:rPr>
              <a:t>pnpm install  ·  pnpm dev  ·  localhost:3000</a:t>
            </a:r>
            <a:endParaRPr lang="en-US" sz="1400" dirty="0">
              <a:latin typeface="JetBrains Mono" charset="0"/>
              <a:ea typeface="JetBrains Mono" charset="0"/>
              <a:cs typeface="JetBrains Mono"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953800"/>
                </a:solidFill>
                <a:latin typeface="JetBrains Mono" pitchFamily="49" charset="0"/>
                <a:ea typeface="JetBrains Mono" pitchFamily="49" charset="-122"/>
                <a:cs typeface="JetBrains Mono" pitchFamily="49" charset="-120"/>
              </a:rPr>
              <a:t>STATUS</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153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F2328"/>
                </a:solidFill>
                <a:latin typeface="IBM Plex Sans" pitchFamily="34" charset="0"/>
                <a:ea typeface="IBM Plex Sans" pitchFamily="34" charset="-122"/>
                <a:cs typeface="IBM Plex Sans" pitchFamily="34" charset="-120"/>
              </a:rPr>
              <a:t>Where it stands, and what comes next</a:t>
            </a:r>
            <a:endParaRPr lang="en-US" sz="3600" dirty="0">
              <a:latin typeface="IBM Plex Sans" charset="0"/>
              <a:ea typeface="IBM Plex Sans" charset="0"/>
              <a:cs typeface="IBM Plex Sans" charset="0"/>
            </a:endParaRPr>
          </a:p>
        </p:txBody>
      </p:sp>
      <p:sp>
        <p:nvSpPr>
          <p:cNvPr id="4" name="Shape 2"/>
          <p:cNvSpPr/>
          <p:nvPr/>
        </p:nvSpPr>
        <p:spPr>
          <a:xfrm>
            <a:off x="815975" y="1964054"/>
            <a:ext cx="5175250" cy="2884170"/>
          </a:xfrm>
          <a:prstGeom prst="roundRect">
            <a:avLst>
              <a:gd name="adj" fmla="val 3413"/>
            </a:avLst>
          </a:prstGeom>
          <a:solidFill>
            <a:srgbClr val="FDFEFF"/>
          </a:solidFill>
          <a:ln w="6350">
            <a:solidFill>
              <a:srgbClr val="D0D7DE"/>
            </a:solidFill>
            <a:prstDash val="solid"/>
          </a:ln>
        </p:spPr>
      </p:sp>
      <p:sp>
        <p:nvSpPr>
          <p:cNvPr id="5" name="Text 3"/>
          <p:cNvSpPr/>
          <p:nvPr/>
        </p:nvSpPr>
        <p:spPr>
          <a:xfrm>
            <a:off x="1071880" y="2219964"/>
            <a:ext cx="480334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7F37"/>
                </a:solidFill>
                <a:latin typeface="IBM Plex Sans" pitchFamily="34" charset="0"/>
                <a:ea typeface="IBM Plex Sans" pitchFamily="34" charset="-122"/>
                <a:cs typeface="IBM Plex Sans" pitchFamily="34" charset="-120"/>
              </a:rPr>
              <a:t>Implemented</a:t>
            </a:r>
            <a:endParaRPr lang="en-US" sz="1600" dirty="0">
              <a:latin typeface="IBM Plex Sans" charset="0"/>
              <a:ea typeface="IBM Plex Sans" charset="0"/>
              <a:cs typeface="IBM Plex Sans" charset="0"/>
            </a:endParaRPr>
          </a:p>
        </p:txBody>
      </p:sp>
      <p:pic>
        <p:nvPicPr>
          <p:cNvPr id="6" name="Image 0" descr="Check">    </p:cNvPr>
          <p:cNvPicPr>
            <a:picLocks noChangeAspect="1"/>
          </p:cNvPicPr>
          <p:nvPr/>
        </p:nvPicPr>
        <p:blipFill>
          <a:blip r:embed="rId1"/>
          <a:srcRect l="0" r="0" t="0" b="0"/>
          <a:stretch/>
        </p:blipFill>
        <p:spPr>
          <a:xfrm>
            <a:off x="1071880" y="2738121"/>
            <a:ext cx="203200" cy="203200"/>
          </a:xfrm>
          <a:prstGeom prst="rect">
            <a:avLst/>
          </a:prstGeom>
        </p:spPr>
      </p:pic>
      <p:sp>
        <p:nvSpPr>
          <p:cNvPr id="7" name="Text 4"/>
          <p:cNvSpPr/>
          <p:nvPr/>
        </p:nvSpPr>
        <p:spPr>
          <a:xfrm>
            <a:off x="1376680" y="2590800"/>
            <a:ext cx="448939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328"/>
                </a:solidFill>
                <a:latin typeface="IBM Plex Sans" pitchFamily="34" charset="0"/>
                <a:ea typeface="IBM Plex Sans" pitchFamily="34" charset="-122"/>
                <a:cs typeface="IBM Plex Sans" pitchFamily="34" charset="-120"/>
              </a:rPr>
              <a:t>SLR(1), CLR(1) and LALR(1) tables with conflict detection</a:t>
            </a:r>
            <a:endParaRPr lang="en-US" sz="1400" dirty="0">
              <a:latin typeface="IBM Plex Sans" charset="0"/>
              <a:ea typeface="IBM Plex Sans" charset="0"/>
              <a:cs typeface="IBM Plex Sans" charset="0"/>
            </a:endParaRPr>
          </a:p>
        </p:txBody>
      </p:sp>
      <p:pic>
        <p:nvPicPr>
          <p:cNvPr id="8" name="Image 1" descr="Check">    </p:cNvPr>
          <p:cNvPicPr>
            <a:picLocks noChangeAspect="1"/>
          </p:cNvPicPr>
          <p:nvPr/>
        </p:nvPicPr>
        <p:blipFill>
          <a:blip r:embed="rId2"/>
          <a:srcRect l="0" r="0" t="0" b="0"/>
          <a:stretch/>
        </p:blipFill>
        <p:spPr>
          <a:xfrm>
            <a:off x="1071880" y="3238500"/>
            <a:ext cx="203200" cy="203200"/>
          </a:xfrm>
          <a:prstGeom prst="rect">
            <a:avLst/>
          </a:prstGeom>
        </p:spPr>
      </p:pic>
      <p:sp>
        <p:nvSpPr>
          <p:cNvPr id="9" name="Text 5"/>
          <p:cNvSpPr/>
          <p:nvPr/>
        </p:nvSpPr>
        <p:spPr>
          <a:xfrm>
            <a:off x="1376680" y="3215642"/>
            <a:ext cx="448939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328"/>
                </a:solidFill>
                <a:latin typeface="IBM Plex Sans" pitchFamily="34" charset="0"/>
                <a:ea typeface="IBM Plex Sans" pitchFamily="34" charset="-122"/>
                <a:cs typeface="IBM Plex Sans" pitchFamily="34" charset="-120"/>
              </a:rPr>
              <a:t>FIRST/FOLLOW with a reason for every entry</a:t>
            </a:r>
            <a:endParaRPr lang="en-US" sz="1400" dirty="0">
              <a:latin typeface="IBM Plex Sans" charset="0"/>
              <a:ea typeface="IBM Plex Sans" charset="0"/>
              <a:cs typeface="IBM Plex Sans" charset="0"/>
            </a:endParaRPr>
          </a:p>
        </p:txBody>
      </p:sp>
      <p:pic>
        <p:nvPicPr>
          <p:cNvPr id="10" name="Image 2" descr="Check">    </p:cNvPr>
          <p:cNvPicPr>
            <a:picLocks noChangeAspect="1"/>
          </p:cNvPicPr>
          <p:nvPr/>
        </p:nvPicPr>
        <p:blipFill>
          <a:blip r:embed="rId3"/>
          <a:srcRect l="0" r="0" t="0" b="0"/>
          <a:stretch/>
        </p:blipFill>
        <p:spPr>
          <a:xfrm>
            <a:off x="1071880" y="3614421"/>
            <a:ext cx="203200" cy="203200"/>
          </a:xfrm>
          <a:prstGeom prst="rect">
            <a:avLst/>
          </a:prstGeom>
        </p:spPr>
      </p:pic>
      <p:sp>
        <p:nvSpPr>
          <p:cNvPr id="11" name="Text 6"/>
          <p:cNvSpPr/>
          <p:nvPr/>
        </p:nvSpPr>
        <p:spPr>
          <a:xfrm>
            <a:off x="1376680" y="3591564"/>
            <a:ext cx="448939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328"/>
                </a:solidFill>
                <a:latin typeface="IBM Plex Sans" pitchFamily="34" charset="0"/>
                <a:ea typeface="IBM Plex Sans" pitchFamily="34" charset="-122"/>
                <a:cs typeface="IBM Plex Sans" pitchFamily="34" charset="-120"/>
              </a:rPr>
              <a:t>Interactive LR(0), LR(1) and LALR(1) automata</a:t>
            </a:r>
            <a:endParaRPr lang="en-US" sz="1400" dirty="0">
              <a:latin typeface="IBM Plex Sans" charset="0"/>
              <a:ea typeface="IBM Plex Sans" charset="0"/>
              <a:cs typeface="IBM Plex Sans" charset="0"/>
            </a:endParaRPr>
          </a:p>
        </p:txBody>
      </p:sp>
      <p:pic>
        <p:nvPicPr>
          <p:cNvPr id="12" name="Image 3" descr="Check">    </p:cNvPr>
          <p:cNvPicPr>
            <a:picLocks noChangeAspect="1"/>
          </p:cNvPicPr>
          <p:nvPr/>
        </p:nvPicPr>
        <p:blipFill>
          <a:blip r:embed="rId4"/>
          <a:srcRect l="0" r="0" t="0" b="0"/>
          <a:stretch/>
        </p:blipFill>
        <p:spPr>
          <a:xfrm>
            <a:off x="1071880" y="3990342"/>
            <a:ext cx="203200" cy="203200"/>
          </a:xfrm>
          <a:prstGeom prst="rect">
            <a:avLst/>
          </a:prstGeom>
        </p:spPr>
      </p:pic>
      <p:sp>
        <p:nvSpPr>
          <p:cNvPr id="13" name="Text 7"/>
          <p:cNvSpPr/>
          <p:nvPr/>
        </p:nvSpPr>
        <p:spPr>
          <a:xfrm>
            <a:off x="1376680" y="3967479"/>
            <a:ext cx="448939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328"/>
                </a:solidFill>
                <a:latin typeface="IBM Plex Sans" pitchFamily="34" charset="0"/>
                <a:ea typeface="IBM Plex Sans" pitchFamily="34" charset="-122"/>
                <a:cs typeface="IBM Plex Sans" pitchFamily="34" charset="-120"/>
              </a:rPr>
              <a:t>Simulator with parse tree and rightmost derivation</a:t>
            </a:r>
            <a:endParaRPr lang="en-US" sz="1400" dirty="0">
              <a:latin typeface="IBM Plex Sans" charset="0"/>
              <a:ea typeface="IBM Plex Sans" charset="0"/>
              <a:cs typeface="IBM Plex Sans" charset="0"/>
            </a:endParaRPr>
          </a:p>
        </p:txBody>
      </p:sp>
      <p:pic>
        <p:nvPicPr>
          <p:cNvPr id="14" name="Image 4" descr="Check">    </p:cNvPr>
          <p:cNvPicPr>
            <a:picLocks noChangeAspect="1"/>
          </p:cNvPicPr>
          <p:nvPr/>
        </p:nvPicPr>
        <p:blipFill>
          <a:blip r:embed="rId5"/>
          <a:srcRect l="0" r="0" t="0" b="0"/>
          <a:stretch/>
        </p:blipFill>
        <p:spPr>
          <a:xfrm>
            <a:off x="1071880" y="4366264"/>
            <a:ext cx="203200" cy="203200"/>
          </a:xfrm>
          <a:prstGeom prst="rect">
            <a:avLst/>
          </a:prstGeom>
        </p:spPr>
      </p:pic>
      <p:sp>
        <p:nvSpPr>
          <p:cNvPr id="15" name="Text 8"/>
          <p:cNvSpPr/>
          <p:nvPr/>
        </p:nvSpPr>
        <p:spPr>
          <a:xfrm>
            <a:off x="1376680" y="4343400"/>
            <a:ext cx="448939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328"/>
                </a:solidFill>
                <a:latin typeface="IBM Plex Sans" pitchFamily="34" charset="0"/>
                <a:ea typeface="IBM Plex Sans" pitchFamily="34" charset="-122"/>
                <a:cs typeface="IBM Plex Sans" pitchFamily="34" charset="-120"/>
              </a:rPr>
              <a:t>Comparison, conflict diagnosis and algorithm replays</a:t>
            </a:r>
            <a:endParaRPr lang="en-US" sz="1400" dirty="0">
              <a:latin typeface="IBM Plex Sans" charset="0"/>
              <a:ea typeface="IBM Plex Sans" charset="0"/>
              <a:cs typeface="IBM Plex Sans" charset="0"/>
            </a:endParaRPr>
          </a:p>
        </p:txBody>
      </p:sp>
      <p:sp>
        <p:nvSpPr>
          <p:cNvPr id="16" name="Shape 9"/>
          <p:cNvSpPr/>
          <p:nvPr/>
        </p:nvSpPr>
        <p:spPr>
          <a:xfrm>
            <a:off x="6200775" y="1964054"/>
            <a:ext cx="5175250" cy="2381250"/>
          </a:xfrm>
          <a:prstGeom prst="roundRect">
            <a:avLst>
              <a:gd name="adj" fmla="val 4133"/>
            </a:avLst>
          </a:prstGeom>
          <a:solidFill>
            <a:srgbClr val="FDFEFF"/>
          </a:solidFill>
          <a:ln w="6350">
            <a:solidFill>
              <a:srgbClr val="D0D7DE"/>
            </a:solidFill>
            <a:prstDash val="solid"/>
          </a:ln>
        </p:spPr>
      </p:sp>
      <p:sp>
        <p:nvSpPr>
          <p:cNvPr id="17" name="Text 10"/>
          <p:cNvSpPr/>
          <p:nvPr/>
        </p:nvSpPr>
        <p:spPr>
          <a:xfrm>
            <a:off x="6456680" y="2219964"/>
            <a:ext cx="480334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53800"/>
                </a:solidFill>
                <a:latin typeface="IBM Plex Sans" pitchFamily="34" charset="0"/>
                <a:ea typeface="IBM Plex Sans" pitchFamily="34" charset="-122"/>
                <a:cs typeface="IBM Plex Sans" pitchFamily="34" charset="-120"/>
              </a:rPr>
              <a:t>Next</a:t>
            </a:r>
            <a:endParaRPr lang="en-US" sz="1600" dirty="0">
              <a:latin typeface="IBM Plex Sans" charset="0"/>
              <a:ea typeface="IBM Plex Sans" charset="0"/>
              <a:cs typeface="IBM Plex Sans" charset="0"/>
            </a:endParaRPr>
          </a:p>
        </p:txBody>
      </p:sp>
      <p:pic>
        <p:nvPicPr>
          <p:cNvPr id="18" name="Image 5" descr="Wrench">    </p:cNvPr>
          <p:cNvPicPr>
            <a:picLocks noChangeAspect="1"/>
          </p:cNvPicPr>
          <p:nvPr/>
        </p:nvPicPr>
        <p:blipFill>
          <a:blip r:embed="rId6"/>
          <a:srcRect l="0" r="0" t="0" b="0"/>
          <a:stretch/>
        </p:blipFill>
        <p:spPr>
          <a:xfrm>
            <a:off x="6456680" y="2738121"/>
            <a:ext cx="203200" cy="203200"/>
          </a:xfrm>
          <a:prstGeom prst="rect">
            <a:avLst/>
          </a:prstGeom>
        </p:spPr>
      </p:pic>
      <p:sp>
        <p:nvSpPr>
          <p:cNvPr id="19" name="Text 11"/>
          <p:cNvSpPr/>
          <p:nvPr/>
        </p:nvSpPr>
        <p:spPr>
          <a:xfrm>
            <a:off x="6761480" y="2590800"/>
            <a:ext cx="448939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328"/>
                </a:solidFill>
                <a:latin typeface="IBM Plex Sans" pitchFamily="34" charset="0"/>
                <a:ea typeface="IBM Plex Sans" pitchFamily="34" charset="-122"/>
                <a:cs typeface="IBM Plex Sans" pitchFamily="34" charset="-120"/>
              </a:rPr>
              <a:t>%left and %right precedence to resolve conflicts automatically</a:t>
            </a:r>
            <a:endParaRPr lang="en-US" sz="1400" dirty="0">
              <a:latin typeface="IBM Plex Sans" charset="0"/>
              <a:ea typeface="IBM Plex Sans" charset="0"/>
              <a:cs typeface="IBM Plex Sans" charset="0"/>
            </a:endParaRPr>
          </a:p>
        </p:txBody>
      </p:sp>
      <p:pic>
        <p:nvPicPr>
          <p:cNvPr id="20" name="Image 6" descr="Wrench">    </p:cNvPr>
          <p:cNvPicPr>
            <a:picLocks noChangeAspect="1"/>
          </p:cNvPicPr>
          <p:nvPr/>
        </p:nvPicPr>
        <p:blipFill>
          <a:blip r:embed="rId7"/>
          <a:srcRect l="0" r="0" t="0" b="0"/>
          <a:stretch/>
        </p:blipFill>
        <p:spPr>
          <a:xfrm>
            <a:off x="6456680" y="3238500"/>
            <a:ext cx="203200" cy="203200"/>
          </a:xfrm>
          <a:prstGeom prst="rect">
            <a:avLst/>
          </a:prstGeom>
        </p:spPr>
      </p:pic>
      <p:sp>
        <p:nvSpPr>
          <p:cNvPr id="21" name="Text 12"/>
          <p:cNvSpPr/>
          <p:nvPr/>
        </p:nvSpPr>
        <p:spPr>
          <a:xfrm>
            <a:off x="6761480" y="3215642"/>
            <a:ext cx="448939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328"/>
                </a:solidFill>
                <a:latin typeface="IBM Plex Sans" pitchFamily="34" charset="0"/>
                <a:ea typeface="IBM Plex Sans" pitchFamily="34" charset="-122"/>
                <a:cs typeface="IBM Plex Sans" pitchFamily="34" charset="-120"/>
              </a:rPr>
              <a:t>LL(1) parsing, for a top-down comparison</a:t>
            </a:r>
            <a:endParaRPr lang="en-US" sz="1400" dirty="0">
              <a:latin typeface="IBM Plex Sans" charset="0"/>
              <a:ea typeface="IBM Plex Sans" charset="0"/>
              <a:cs typeface="IBM Plex Sans" charset="0"/>
            </a:endParaRPr>
          </a:p>
        </p:txBody>
      </p:sp>
      <p:pic>
        <p:nvPicPr>
          <p:cNvPr id="22" name="Image 7" descr="Wrench">    </p:cNvPr>
          <p:cNvPicPr>
            <a:picLocks noChangeAspect="1"/>
          </p:cNvPicPr>
          <p:nvPr/>
        </p:nvPicPr>
        <p:blipFill>
          <a:blip r:embed="rId8"/>
          <a:srcRect l="0" r="0" t="0" b="0"/>
          <a:stretch/>
        </p:blipFill>
        <p:spPr>
          <a:xfrm>
            <a:off x="6456680" y="3738879"/>
            <a:ext cx="203200" cy="203200"/>
          </a:xfrm>
          <a:prstGeom prst="rect">
            <a:avLst/>
          </a:prstGeom>
        </p:spPr>
      </p:pic>
      <p:sp>
        <p:nvSpPr>
          <p:cNvPr id="23" name="Text 13"/>
          <p:cNvSpPr/>
          <p:nvPr/>
        </p:nvSpPr>
        <p:spPr>
          <a:xfrm>
            <a:off x="6761480" y="3591564"/>
            <a:ext cx="448939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328"/>
                </a:solidFill>
                <a:latin typeface="IBM Plex Sans" pitchFamily="34" charset="0"/>
                <a:ea typeface="IBM Plex Sans" pitchFamily="34" charset="-122"/>
                <a:cs typeface="IBM Plex Sans" pitchFamily="34" charset="-120"/>
              </a:rPr>
              <a:t>Lexer and regex token definitions, so input need not be raw terminals</a:t>
            </a:r>
            <a:endParaRPr lang="en-US" sz="1400" dirty="0">
              <a:latin typeface="IBM Plex Sans" charset="0"/>
              <a:ea typeface="IBM Plex Sans" charset="0"/>
              <a:cs typeface="IBM Plex Sans"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A657"/>
                </a:solidFill>
                <a:latin typeface="JetBrains Mono" pitchFamily="49" charset="0"/>
                <a:ea typeface="JetBrains Mono" pitchFamily="49" charset="-122"/>
                <a:cs typeface="JetBrains Mono" pitchFamily="49" charset="-120"/>
              </a:rPr>
              <a:t>LOOKAHEAD · COMPILER DESIGN LAB</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2649221"/>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E6EDF3"/>
                </a:solidFill>
                <a:latin typeface="IBM Plex Sans" pitchFamily="34" charset="0"/>
                <a:ea typeface="IBM Plex Sans" pitchFamily="34" charset="-122"/>
                <a:cs typeface="IBM Plex Sans" pitchFamily="34" charset="-120"/>
              </a:rPr>
              <a:t>Thank you</a:t>
            </a:r>
            <a:endParaRPr lang="en-US" sz="6000" dirty="0">
              <a:latin typeface="IBM Plex Sans" charset="0"/>
              <a:ea typeface="IBM Plex Sans" charset="0"/>
              <a:cs typeface="IBM Plex Sans" charset="0"/>
            </a:endParaRPr>
          </a:p>
        </p:txBody>
      </p:sp>
      <p:sp>
        <p:nvSpPr>
          <p:cNvPr id="4" name="Text 2"/>
          <p:cNvSpPr/>
          <p:nvPr/>
        </p:nvSpPr>
        <p:spPr>
          <a:xfrm>
            <a:off x="812800" y="3601721"/>
            <a:ext cx="10883392"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C8D2"/>
                </a:solidFill>
                <a:latin typeface="IBM Plex Sans" pitchFamily="34" charset="0"/>
                <a:ea typeface="IBM Plex Sans" pitchFamily="34" charset="-122"/>
                <a:cs typeface="IBM Plex Sans" pitchFamily="34" charset="-120"/>
              </a:rPr>
              <a:t>Questions, and a grammar from the audience to try live</a:t>
            </a:r>
            <a:endParaRPr lang="en-US" sz="2200" dirty="0">
              <a:latin typeface="IBM Plex Sans" charset="0"/>
              <a:ea typeface="IBM Plex Sans" charset="0"/>
              <a:cs typeface="IBM Plex Sans" charset="0"/>
            </a:endParaRPr>
          </a:p>
        </p:txBody>
      </p:sp>
      <p:sp>
        <p:nvSpPr>
          <p:cNvPr id="5" name="Text 3"/>
          <p:cNvSpPr/>
          <p:nvPr/>
        </p:nvSpPr>
        <p:spPr>
          <a:xfrm>
            <a:off x="812800" y="5588000"/>
            <a:ext cx="1697355"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198A1"/>
                </a:solidFill>
                <a:latin typeface="IBM Plex Sans" pitchFamily="34" charset="0"/>
                <a:ea typeface="IBM Plex Sans" pitchFamily="34" charset="-122"/>
                <a:cs typeface="IBM Plex Sans" pitchFamily="34" charset="-120"/>
              </a:rPr>
              <a:t>[Team member names]</a:t>
            </a:r>
            <a:endParaRPr lang="en-US" sz="1200" dirty="0">
              <a:latin typeface="IBM Plex Sans" charset="0"/>
              <a:ea typeface="IBM Plex Sans" charset="0"/>
              <a:cs typeface="IBM Plex Sans" charset="0"/>
            </a:endParaRPr>
          </a:p>
          <a:p>
            <a:pPr algn="l" indent="0" marL="0">
              <a:lnSpc>
                <a:spcPts val="1800"/>
              </a:lnSpc>
              <a:buNone/>
            </a:pPr>
            <a:r>
              <a:rPr lang="en-US" sz="1200" dirty="0">
                <a:solidFill>
                  <a:srgbClr val="9198A1"/>
                </a:solidFill>
                <a:latin typeface="IBM Plex Sans" pitchFamily="34" charset="0"/>
                <a:ea typeface="IBM Plex Sans" pitchFamily="34" charset="-122"/>
                <a:cs typeface="IBM Plex Sans" pitchFamily="34" charset="-120"/>
              </a:rPr>
              <a:t>Guided by [Guide name]</a:t>
            </a:r>
            <a:endParaRPr lang="en-US" sz="1200" dirty="0">
              <a:latin typeface="IBM Plex Sans" charset="0"/>
              <a:ea typeface="IBM Plex Sans" charset="0"/>
              <a:cs typeface="IBM Plex Sans" charset="0"/>
            </a:endParaRPr>
          </a:p>
        </p:txBody>
      </p:sp>
      <p:sp>
        <p:nvSpPr>
          <p:cNvPr id="6" name="Text 4"/>
          <p:cNvSpPr/>
          <p:nvPr/>
        </p:nvSpPr>
        <p:spPr>
          <a:xfrm>
            <a:off x="9513824" y="5831842"/>
            <a:ext cx="186537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198A1"/>
                </a:solidFill>
                <a:latin typeface="JetBrains Mono" pitchFamily="49" charset="0"/>
                <a:ea typeface="JetBrains Mono" pitchFamily="49" charset="-122"/>
                <a:cs typeface="JetBrains Mono" pitchFamily="49" charset="-120"/>
              </a:rPr>
              <a:t>[Repository link]</a:t>
            </a:r>
            <a:endParaRPr lang="en-US" sz="1200" dirty="0">
              <a:latin typeface="JetBrains Mono" charset="0"/>
              <a:ea typeface="JetBrains Mono" charset="0"/>
              <a:cs typeface="JetBrains Mono" charset="0"/>
            </a:endParaRPr>
          </a:p>
        </p:txBody>
      </p:sp>
    </p:spTree>
  </p:cSld>
  <p:clrMapOvr>
    <a:masterClrMapping/>
  </p:clrMapOvr>
</p:sld>
</file>

<file path=ppt/theme/theme1.xml><?xml version="1.0" encoding="utf-8"?>
<a:theme xmlns:a="http://schemas.openxmlformats.org/drawingml/2006/main" name="Lookahead — SLR · CLR · LALR Parser Studio">
  <a:themeElements>
    <a:clrScheme name="Lookahead — SLR · CLR · LALR Parser Studio">
      <a:dk1>
        <a:srgbClr val="1F2328"/>
      </a:dk1>
      <a:lt1>
        <a:srgbClr val="F6F8FA"/>
      </a:lt1>
      <a:dk2>
        <a:srgbClr val="55585D"/>
      </a:dk2>
      <a:lt2>
        <a:srgbClr val="E1E3E5"/>
      </a:lt2>
      <a:accent1>
        <a:srgbClr val="0969DA"/>
      </a:accent1>
      <a:accent2>
        <a:srgbClr val="953800"/>
      </a:accent2>
      <a:accent3>
        <a:srgbClr val="FFE2C4"/>
      </a:accent3>
      <a:accent4>
        <a:srgbClr val="FFA657"/>
      </a:accent4>
      <a:accent5>
        <a:srgbClr val="0C2D57"/>
      </a:accent5>
      <a:accent6>
        <a:srgbClr val="1A7F37"/>
      </a:accent6>
      <a:hlink>
        <a:srgbClr val="0563C1"/>
      </a:hlink>
      <a:folHlink>
        <a:srgbClr val="954F72"/>
      </a:folHlink>
    </a:clrScheme>
    <a:fontScheme name="Lookahead — SLR · CLR · LALR Parser Studio">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Lookahead — SLR · CLR · LALR Parser Studio</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2026-10-31T04:02:41Z</dcterms:created>
  <dcterms:modified xsi:type="dcterms:W3CDTF">2026-10-31T04:02:41Z</dcterms:modified>
</cp:coreProperties>
</file>